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1280160"/>
            <a:ext cx="3840480" cy="3840480"/>
          </a:xfrm>
          <a:prstGeom prst="ellipse">
            <a:avLst/>
          </a:prstGeom>
          <a:solidFill>
            <a:srgbClr val="12A3D8">
              <a:alpha val="10000"/>
            </a:srgbClr>
          </a:solidFill>
          <a:ln w="12700">
            <a:solidFill>
              <a:srgbClr val="12A3D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377440" cy="2377440"/>
          </a:xfrm>
          <a:prstGeom prst="ellipse">
            <a:avLst/>
          </a:prstGeom>
          <a:solidFill>
            <a:srgbClr val="0A7EA4">
              <a:alpha val="22000"/>
            </a:srgbClr>
          </a:solidFill>
          <a:ln w="12700">
            <a:solidFill>
              <a:srgbClr val="0A7EA4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200400"/>
            <a:ext cx="2743200" cy="2743200"/>
          </a:xfrm>
          <a:prstGeom prst="ellipse">
            <a:avLst/>
          </a:prstGeom>
          <a:solidFill>
            <a:srgbClr val="A8DADC">
              <a:alpha val="12000"/>
            </a:srgbClr>
          </a:solidFill>
          <a:ln w="12700">
            <a:solidFill>
              <a:srgbClr val="A8DADC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20624"/>
            <a:ext cx="3840480" cy="310896"/>
          </a:xfrm>
          <a:prstGeom prst="rect">
            <a:avLst>
              <a:gd name="adj" fmla="val 11765"/>
            </a:avLst>
          </a:prstGeom>
          <a:solidFill>
            <a:srgbClr val="0A7EA4">
              <a:alpha val="78000"/>
            </a:srgbClr>
          </a:solidFill>
          <a:ln w="12700">
            <a:solidFill>
              <a:srgbClr val="12A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420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M.Tech AI/ML  ·  Work Integrated Learning Programme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" y="950976"/>
            <a:ext cx="8503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FedAcuity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329184" y="1993392"/>
            <a:ext cx="6400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A8DADC"/>
                </a:solidFill>
              </a:rPr>
              <a:t>A Privacy-Preserving Federated Learning Framework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A8DADC"/>
                </a:solidFill>
              </a:rPr>
              <a:t>with Explainability Auditing for Staffing-Acuity</a:t>
            </a:r>
            <a:endParaRPr lang="en-US" sz="165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650" dirty="0">
                <a:solidFill>
                  <a:srgbClr val="A8DADC"/>
                </a:solidFill>
              </a:rPr>
              <a:t>Mismatch Prediction in Long-Term Care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29184" y="3511296"/>
            <a:ext cx="4389120" cy="2194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36758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Tanay Kashyap</a:t>
            </a:r>
            <a:pPr indent="0" marL="0">
              <a:buNone/>
            </a:pPr>
            <a:r>
              <a:rPr lang="en-US" sz="1300" dirty="0">
                <a:solidFill>
                  <a:srgbClr val="5A6A7E"/>
                </a:solidFill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A8DADC"/>
                </a:solidFill>
              </a:rPr>
              <a:t>M.Tech Dissertation Proposal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40416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A7E"/>
                </a:solidFill>
              </a:rPr>
              <a:t>Work Integrated Learning  ·  Senior Living &amp; Long-Term Care Domain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 /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THE RESEARCH GAP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Crisis With No Predictive Solution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29184" y="1463040"/>
            <a:ext cx="276148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463040"/>
            <a:ext cx="2761488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572768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6344" y="2414016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of nursing homes report moderate-to-high staffing shortages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" y="3364992"/>
            <a:ext cx="2505456" cy="16459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3401568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i="1" dirty="0">
                <a:solidFill>
                  <a:srgbClr val="5A6A7E"/>
                </a:solidFill>
              </a:rPr>
              <a:t>AHCA Survey, 2022 · NIH PMC9894029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36976" y="1463040"/>
            <a:ext cx="276148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6976" y="1463040"/>
            <a:ext cx="2761488" cy="73152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572768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∼8.5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374136" y="2414016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medications per resident on average — acuity is complex and shifts daily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74136" y="3364992"/>
            <a:ext cx="2505456" cy="16459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3401568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i="1" dirty="0">
                <a:solidFill>
                  <a:srgbClr val="5A6A7E"/>
                </a:solidFill>
              </a:rPr>
              <a:t>Landi et al., INCUR Study, PMC 2022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44768" y="1463040"/>
            <a:ext cx="276148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463040"/>
            <a:ext cx="2761488" cy="73152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572768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81928" y="2414016"/>
            <a:ext cx="25054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cross-facility predictive tools exist for staffing-acuity mismatch in LTC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81928" y="3364992"/>
            <a:ext cx="2505456" cy="16459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3401568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i="1" dirty="0">
                <a:solidFill>
                  <a:srgbClr val="5A6A7E"/>
                </a:solidFill>
              </a:rPr>
              <a:t>Identified research gap — proposed dissertation contribution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" y="464515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7EA4"/>
                </a:solidFill>
              </a:rPr>
              <a:t>Facilities accumulate years of operational data — but learn alone, in silence. The gap is not data. It is a missing method.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2 / 16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WHY EXISTING RESEARCH DOES NOT COVER THIS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FL Research and LTC Are Fundamentally Different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71600"/>
            <a:ext cx="8485632" cy="420624"/>
          </a:xfrm>
          <a:prstGeom prst="rect">
            <a:avLst/>
          </a:prstGeom>
          <a:solidFill>
            <a:srgbClr val="FDE8B8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4D00"/>
                </a:solidFill>
              </a:rPr>
              <a:t>Honest framing: FL algorithms are borrowed from hospital research. The novelty is applying them to a domain with a different prediction target, sharper data heterogeneity, and no existing benchmark.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920240"/>
            <a:ext cx="40965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" y="1920240"/>
            <a:ext cx="64008" cy="1188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99339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New prediction target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304288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Hospital: Readmission risk, sepsis onset, diagnostic accuracy, mortality prediction.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6334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LTC: Staffing-acuity mismatch: will available nursing hours match resident care demand? No FL paper addresses this.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920240"/>
            <a:ext cx="40965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920240"/>
            <a:ext cx="64008" cy="118872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99339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Different data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91456" y="2304288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Hospital: Short episodic stays (days). High-acuity acute events. Frequent discrete outcomes.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91456" y="26334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LTC: Longitudinal decline over months to years. Slow-moving ADL degradation. Hospital-trained models generalise poorly.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" y="3218688"/>
            <a:ext cx="40965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" y="3218688"/>
            <a:ext cx="64008" cy="118872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29184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Sharper non-IID heterogeneity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" y="3602736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Hospital: Hospital types differ, but share clinical structure, coding standards, EHR schemas.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" y="3931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LTC: Memory Care, Skilled Nursing, and Independent Living are near-unrelated operationally. Non-IID is more extreme.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3218688"/>
            <a:ext cx="40965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3218688"/>
            <a:ext cx="64008" cy="1188720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29184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No benchmark dataset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91456" y="3602736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Hospital: MIMIC-III, eICU, PhysioNet — standard public datasets enabling reproducible research.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3931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LTC: Nothing equivalent exists for senior living federated analytics. Creating one is a standalone contribution.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3 / 16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4206240" cy="4206240"/>
          </a:xfrm>
          <a:prstGeom prst="ellipse">
            <a:avLst/>
          </a:prstGeom>
          <a:solidFill>
            <a:srgbClr val="12A3D8">
              <a:alpha val="8000"/>
            </a:srgbClr>
          </a:solidFill>
          <a:ln w="12700">
            <a:solidFill>
              <a:srgbClr val="12A3D8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25603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THE COMBINED FRAMEWORK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9184" y="658368"/>
            <a:ext cx="8485632" cy="749808"/>
          </a:xfrm>
          <a:prstGeom prst="rect">
            <a:avLst/>
          </a:prstGeom>
          <a:solidFill>
            <a:srgbClr val="0A4F65"/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694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</a:rPr>
              <a:t>Research Question: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9509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federated learning enable accurate and privacy-preserving prediction of staffing–acuity mismatch in long-term care settings?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" y="1481328"/>
            <a:ext cx="8485632" cy="658368"/>
          </a:xfrm>
          <a:prstGeom prst="rect">
            <a:avLst/>
          </a:prstGeom>
          <a:solidFill>
            <a:srgbClr val="3A1E78"/>
          </a:solidFill>
          <a:ln w="12700">
            <a:solidFill>
              <a:srgbClr val="7B52C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17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2C8"/>
                </a:solidFill>
              </a:rPr>
              <a:t>Hypothesis: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739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federated learning, combined with validated synthetic data and structured XAI auditing, will outperform standard FL approaches in accuracy, fairness, and interpretability.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" y="2231136"/>
            <a:ext cx="8485632" cy="20117"/>
          </a:xfrm>
          <a:prstGeom prst="rect">
            <a:avLst/>
          </a:prstGeom>
          <a:solidFill>
            <a:srgbClr val="0A7EA4">
              <a:alpha val="45000"/>
            </a:srgbClr>
          </a:solidFill>
          <a:ln w="12700">
            <a:solidFill>
              <a:srgbClr val="0A7EA4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23591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DADC"/>
                </a:solidFill>
              </a:rPr>
              <a:t>Three standalone contributions, one unified dissertation: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" y="2761488"/>
            <a:ext cx="2706624" cy="2103120"/>
          </a:xfrm>
          <a:prstGeom prst="rect">
            <a:avLst/>
          </a:prstGeom>
          <a:solidFill>
            <a:srgbClr val="0A4F65"/>
          </a:solidFill>
          <a:ln w="12700">
            <a:solidFill>
              <a:srgbClr val="0A7EA4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2761488"/>
            <a:ext cx="2706624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5292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Engineering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15184" y="2816352"/>
            <a:ext cx="365760" cy="365760"/>
          </a:xfrm>
          <a:prstGeom prst="ellipse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145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FedAcuity FL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A8DADC"/>
                </a:solidFill>
              </a:rPr>
              <a:t>Domain-driven clustered federation strategy for LTC non-IID data. Novel application domain. Differential privacy layer.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2761488"/>
            <a:ext cx="2706624" cy="2103120"/>
          </a:xfrm>
          <a:prstGeom prst="rect">
            <a:avLst/>
          </a:prstGeom>
          <a:solidFill>
            <a:srgbClr val="3A1E78"/>
          </a:solidFill>
          <a:ln w="12700">
            <a:solidFill>
              <a:srgbClr val="0A7EA4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2761488"/>
            <a:ext cx="2706624" cy="54864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285292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68112" y="2816352"/>
            <a:ext cx="365760" cy="365760"/>
          </a:xfrm>
          <a:prstGeom prst="ellipse">
            <a:avLst/>
          </a:prstGeom>
          <a:solidFill>
            <a:srgbClr val="5C35A0">
              <a:alpha val="80000"/>
            </a:srgbClr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145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Synthetic Data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547872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A8DADC"/>
                </a:solidFill>
              </a:rPr>
              <a:t>CTGAN generation + MIMIC-IV fidelity proof. TSTR experiments. Kills the ‘synthetic data objection’.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761488"/>
            <a:ext cx="2706624" cy="2103120"/>
          </a:xfrm>
          <a:prstGeom prst="rect">
            <a:avLst/>
          </a:prstGeom>
          <a:solidFill>
            <a:srgbClr val="0A4D38"/>
          </a:solidFill>
          <a:ln w="12700">
            <a:solidFill>
              <a:srgbClr val="0A7EA4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761488"/>
            <a:ext cx="2706624" cy="54864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85292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8529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Novel Framework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321040" y="2816352"/>
            <a:ext cx="365760" cy="365760"/>
          </a:xfrm>
          <a:prstGeom prst="ellipse">
            <a:avLst/>
          </a:prstGeom>
          <a:solidFill>
            <a:srgbClr val="0C6B4E">
              <a:alpha val="80000"/>
            </a:srgbClr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63056" y="3145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XAI Audit Scorecard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63056" y="3547872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A8DADC"/>
                </a:solidFill>
              </a:rPr>
              <a:t>SHAP fidelity, perturbation stability, subgroup fairness, clinical plausibility — applied to federated LTC models.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4 / 16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FEDERATED LEARNING — MECHANISM &amp; HIPAA RATIONALE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 Is the Only Viable Architecture for Multi-Facility LTC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9184" y="1371600"/>
            <a:ext cx="3474720" cy="3401568"/>
          </a:xfrm>
          <a:prstGeom prst="rect">
            <a:avLst/>
          </a:prstGeom>
          <a:solidFill>
            <a:srgbClr val="FDE8E8"/>
          </a:solidFill>
          <a:ln w="12700">
            <a:solidFill>
              <a:srgbClr val="D9404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71600"/>
            <a:ext cx="3474720" cy="6400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020"/>
                </a:solidFill>
              </a:rPr>
              <a:t>The HIPAA Barrier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901952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E3E52"/>
                </a:solidFill>
              </a:rPr>
              <a:t>Resident records are Protected Health Information (PHI)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E3E52"/>
                </a:solidFill>
              </a:rPr>
              <a:t>Cross-facility data sharing is a federal violation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852928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E3E52"/>
                </a:solidFill>
              </a:rPr>
              <a:t>HIPAA penalties up to $1.9M per violation category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32841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E3E52"/>
                </a:solidFill>
              </a:rPr>
              <a:t>No consent mechanism exists for cross-facility ML training on PHI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80390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E3E52"/>
                </a:solidFill>
              </a:rPr>
              <a:t>Therefore: centralised multi-facility model training is not legally possible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22192" y="2944368"/>
            <a:ext cx="420624" cy="347472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94436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79392" y="1371600"/>
            <a:ext cx="4535424" cy="3401568"/>
          </a:xfrm>
          <a:prstGeom prst="rect">
            <a:avLst/>
          </a:prstGeom>
          <a:solidFill>
            <a:srgbClr val="D6F5EC"/>
          </a:solidFill>
          <a:ln w="12700">
            <a:solidFill>
              <a:srgbClr val="12A87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371600"/>
            <a:ext cx="4535424" cy="64008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481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6B4E"/>
                </a:solidFill>
              </a:rPr>
              <a:t>Federated Learning Solves This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07408" y="1993392"/>
            <a:ext cx="347472" cy="347472"/>
          </a:xfrm>
          <a:prstGeom prst="ellipse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Local training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2494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Each facility trains on its own data. Raw records never leave the building.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07408" y="2907792"/>
            <a:ext cx="347472" cy="347472"/>
          </a:xfrm>
          <a:prstGeom prst="ellipse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9077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Weight sharing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1638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Only model weights — mathematical numbers — are transmitted. No patient identifiers.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07408" y="3822192"/>
            <a:ext cx="347472" cy="347472"/>
          </a:xfrm>
          <a:prstGeom prst="ellipse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8221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Global aggregation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07822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Server merges weights via FedAvg. Every client gets a smarter model back. Repeat.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5 / 16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CONTRIBUTION 1 — CLUSTERED FEDERATED LEARNING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Non-IID Problem and the Proposed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71600"/>
            <a:ext cx="4059936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71600"/>
            <a:ext cx="64008" cy="3401568"/>
          </a:xfrm>
          <a:prstGeom prst="rect">
            <a:avLst/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8132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020"/>
                </a:solidFill>
              </a:rPr>
              <a:t>Why Standard FedAvg Degrades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865376"/>
            <a:ext cx="3767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FedAvg assumes all clients share similar data distributions (IID). Senior living facilities violate this assumption severely: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" y="2487168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B02020"/>
          </a:solidFill>
          <a:ln w="12700">
            <a:solidFill>
              <a:srgbClr val="B0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48716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Memory Care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0" y="24871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High cognitive decline, very high acuity, heavy nursing load, slow-moving trajectory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3200400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20040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Skilled Nursing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45920" y="320040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Post-acute rehab, shorter stays, high acuity variance, frequent discharge events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" y="3913632"/>
            <a:ext cx="1060704" cy="274320"/>
          </a:xfrm>
          <a:prstGeom prst="roundRect">
            <a:avLst>
              <a:gd name="adj" fmla="val 13333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91363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Independent Living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45920" y="39136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Low acuity, wellness focus, minimal nursing dependency, stable patterns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55371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2020"/>
                </a:solidFill>
              </a:rPr>
              <a:t>Averaging these together produces a mediocre model for all three.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1371600"/>
            <a:ext cx="4059936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1371600"/>
            <a:ext cx="64008" cy="3401568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148132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C6B4E"/>
                </a:solidFill>
              </a:rPr>
              <a:t>Domain-Driven Clustered Federation Strategy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01184" y="1956816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Facilities are clustered by care type before aggregation. Application novelty: this structure is purpose-built for LTC's operational heterogeneity — not a new algorithm, but a new domain strategy: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01184" y="25420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5420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1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97296" y="254203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Assign each simulated facility to its care-type cluster (MC / SNF / IL)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01184" y="320040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32004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97296" y="32004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Run intra-cluster FedAvg — each cluster learns a specialised global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01184" y="385876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8587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Step 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97296" y="385876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Compare Clustered FL vs FedAvg vs FedProx on held-out facilities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01184" y="451713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4517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Hypothesis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97296" y="451713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E3E52"/>
                </a:solidFill>
              </a:rPr>
              <a:t>Care-type clustering significantly improves AUC-ROC on non-IID LTC data vs baseline FedAvg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6 / 16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CONTRIBUTION 2 — SYNTHETIC DATA FIDELITY VALIDATION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the Synthetic Data Objection with MIMIC-IV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53312"/>
            <a:ext cx="8485632" cy="512064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8DADC"/>
                </a:solidFill>
              </a:rPr>
              <a:t>The synthetic dataset fills a documented gap — no public benchmark exists for senior living FL research. MIMIC-IV is used not as training data but as a statistical anchor to validate distributional plausibility, not clinical equivalence. This answers the objection before a reviewer asks 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975104"/>
            <a:ext cx="2706624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" y="1975104"/>
            <a:ext cx="2706624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What is observed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(data schemas only — no PHI)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61518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Column names &amp; types from EHR systems in the domain of work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1272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Acuity scoring schema (MDS/RUG structures standard in LTC)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63931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Staffing ratio and scheduling data structures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415137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Census, ADL dependency, and incident log formats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82112" y="1975104"/>
            <a:ext cx="2706624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975104"/>
            <a:ext cx="2706624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Synthetic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(CTGAN / SDV library)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261518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10 simulated facilities with heterogeneous care-type distributions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28416" y="31272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3 years of longitudinal daily records per facility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363931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Non-IID variance deliberately engineered per care type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415137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No real resident names, IDs, or records anywhere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1975104"/>
            <a:ext cx="2706624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975104"/>
            <a:ext cx="2706624" cy="64008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MIMIC-IV fidelity proof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3056" y="2359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(statistical anchor — not domain equivalence)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81344" y="2615184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KS-test: feature distributions vs MIMIC-IV elderly subset (65+, 3+ comorbidities)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81344" y="312724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Frobenius norm: correlation matrix similarity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81344" y="363931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TSTR experiment: train on synthetic, test on real — target &lt;8% accuracy gap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81344" y="415137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Published methodology (Jordon et al. 2022, synthcity)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7 / 16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CONTRIBUTION 3 — XAI AUDIT SCORECARD FOR FEDERATED LTC MODELS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Model Is Not Just Accurate — But Trustworthy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53312"/>
            <a:ext cx="8485632" cy="402336"/>
          </a:xfrm>
          <a:prstGeom prst="rect">
            <a:avLst/>
          </a:prstGeom>
          <a:solidFill>
            <a:srgbClr val="E8E0F8"/>
          </a:solidFill>
          <a:ln w="12700">
            <a:solidFill>
              <a:srgbClr val="7B52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35A0"/>
                </a:solidFill>
              </a:rPr>
              <a:t>No structured XAI audit framework exists for federated models in LTC. Core dimensions: Fidelity + Stability (primary); Fairness (secondary); Plausibility (light-touch). Applied to all five model variants to prove clustered FL is more explainable and fairer, not just more accurate.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883664"/>
            <a:ext cx="407822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" y="1883664"/>
            <a:ext cx="64008" cy="12801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3632" y="1975104"/>
            <a:ext cx="347472" cy="34747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" y="197510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9751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Primary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219456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Explanation Fidelity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" y="2432304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Method: SHAP values computed for all five model variants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265176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Metric: Rank correlation of top-10 SHAP features vs centralised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883664"/>
            <a:ext cx="407822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883664"/>
            <a:ext cx="64008" cy="1280160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1975104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1975104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9751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Primary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73168" y="219456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Explanation Stability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73168" y="2432304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Method: Input perturbation testing (±5% noise on continuous features)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265176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Metric: Mean SHAP shift across 100 perturbations per test instance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" y="3273552"/>
            <a:ext cx="407822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" y="3273552"/>
            <a:ext cx="64008" cy="128016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13632" y="3364992"/>
            <a:ext cx="347472" cy="347472"/>
          </a:xfrm>
          <a:prstGeom prst="ellipse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" y="3364992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3649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Secondary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3776" y="35844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Subgroup Fairness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3776" y="3822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Method: Equalized odds and demographic parity across care types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3776" y="404164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Metric: Max AUC gap across care-type subgroups; equalized odds ratio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08576" y="3273552"/>
            <a:ext cx="4078224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3273552"/>
            <a:ext cx="64008" cy="1280160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3364992"/>
            <a:ext cx="347472" cy="347472"/>
          </a:xfrm>
          <a:prstGeom prst="ellipse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93024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3364992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3649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Light-touch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35844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Clinical Plausibility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773168" y="3822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E"/>
                </a:solidFill>
              </a:rPr>
              <a:t>Method: Expert review of top SHAP features against LTC clinical literature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73168" y="4041648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Metric: Percentage of top-5 SHAP features documented in LTC literature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8 / 16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TECHNICAL DESIGN — END-TO-END SYSTEM ARCHITECTURE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 with XAI Audit Layer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16736"/>
            <a:ext cx="8485632" cy="969264"/>
          </a:xfrm>
          <a:prstGeom prst="rect">
            <a:avLst/>
          </a:prstGeom>
          <a:solidFill>
            <a:srgbClr val="EAF7FC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1316736"/>
            <a:ext cx="54864" cy="9692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07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</a:rPr>
              <a:t>Layer 1  —  Facility Edge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37760" y="13807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A7E"/>
                </a:solidFill>
              </a:rPr>
              <a:t>raw data never leaves the building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Raw EHR / ADL / census data stays on-site — never transmitted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Local XGBoost model trained each round on private facility data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1664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Opacus differential privacy noise injected before weight transmission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1920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Care-type cluster assignment determines aggregation group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0" y="2286000"/>
            <a:ext cx="1828800" cy="219456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2860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weights only  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" y="2505456"/>
            <a:ext cx="8485632" cy="969264"/>
          </a:xfrm>
          <a:prstGeom prst="rect">
            <a:avLst/>
          </a:prstGeom>
          <a:solidFill>
            <a:srgbClr val="F0EAF8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2505456"/>
            <a:ext cx="54864" cy="969264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35A0"/>
                </a:solidFill>
              </a:rPr>
              <a:t>Layer 2  —  Federated Aggregation Server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569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A7E"/>
                </a:solidFill>
              </a:rPr>
              <a:t>no patient data ever received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852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FedAvg baseline aggregation + Clustered FL by care type (domain strategy)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FedProx comparison variant for non-IID robustness (Li et al. 2020)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2852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Privacy budget ε tracked; convergence monitored across rounds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3108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Updated global model redistributed to all facility clients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3474720"/>
            <a:ext cx="1828800" cy="219456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474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global model  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" y="3694176"/>
            <a:ext cx="8485632" cy="969264"/>
          </a:xfrm>
          <a:prstGeom prst="rect">
            <a:avLst/>
          </a:prstGeom>
          <a:solidFill>
            <a:srgbClr val="E8F8F2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" y="3694176"/>
            <a:ext cx="54864" cy="969264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581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6B4E"/>
                </a:solidFill>
              </a:rPr>
              <a:t>Layer 3  —  XAI Audit &amp; Evaluation Output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3758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A7E"/>
                </a:solidFill>
              </a:rPr>
              <a:t>all five model variants scored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0416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SHAP fidelity (D1) + perturbation stability (D2) across all models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Subgroup fairness (D3) + clinical plausibility (D4, light-touch)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0" y="40416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AUC-ROC / F1 / precision-recall on held-out facilities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TSTR fidelity result + published synthetic LTC benchmark dataset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9 / 16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TECHNICAL DESIGN — STACK, ALGORITHMS &amp; COMPARISONS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CPU-Feasible Stack — Reproducible on Standard Hardware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35024"/>
            <a:ext cx="405993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35024"/>
            <a:ext cx="4059936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Technology Stack (All CPU-Native)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836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FL Framework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554480" y="18836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Flower (flwr) — open-source, CPU-native federated learning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40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Generation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54480" y="23408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SDV / CTGAN — conditional tabular GAN for synthetic LTC data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ML Models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54480" y="27980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XGBoost (primary) + shallow PyTorch NN (secondary)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55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Privacy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54480" y="32552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Opacus — differential privacy for PyTorch models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12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XAI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54480" y="37124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SHAP (Lundberg &amp; Lee 2017) + LIME (Ribeiro et al. 2016)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9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54480" y="41696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scikit-learn, pandas, Matplotlib, statsmodels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62686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26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Language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554480" y="46268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3E52"/>
                </a:solidFill>
              </a:rPr>
              <a:t>Python 3.11 — fully reproducible environment (conda)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1335024"/>
            <a:ext cx="405993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1335024"/>
            <a:ext cx="4059936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4264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Algorithms Under Comparison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64608" y="18836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8836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Baseline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50992" y="1883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FedAvg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64224" y="18836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McMahan et al. 2017 — standard federation baseline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64608" y="23408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3408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Compare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50992" y="2340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FedProx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64224" y="23408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Li et al. 2020 — non-IID robustness via proximal term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64608" y="27980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7980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Domain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50992" y="27980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CFL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64224" y="27980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Care-type clustered federation strategy — novel LTC application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64608" y="32552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2552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Privacy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50992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DP-SGD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64224" y="32552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Opacus differential privacy — ε sweep analysis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64608" y="37124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3712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Contrib.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50992" y="37124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CTGAN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64224" y="37124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Synthetic data generation — LTC benchmark dataset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64608" y="41696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41696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Audit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650992" y="41696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SHAP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64224" y="41696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E3E52"/>
                </a:solidFill>
              </a:rPr>
              <a:t>Explainability — fidelity, stability, fairness scoring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10 / 16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EVALUATION FRAMEWORK — HOW SUCCESS IS MEASURED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Models, Three Evaluation Dimensions, One Unified Scorecard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89888"/>
            <a:ext cx="270662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89888"/>
            <a:ext cx="2706624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Prediction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AUC-ROC: target benchmark ≥80; primary measure is relative improvement of CFL vs FedAvg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F1-score: harmonic balance of precision &amp; recall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321868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Precision-recall curve for class imbalance robustness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389534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Comparison matrix: Local vs Centralised vs FedAvg vs FedProx vs CFL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1389888"/>
            <a:ext cx="270662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389888"/>
            <a:ext cx="2706624" cy="64008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Federation Efficiency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186537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Communication rounds to convergence (target ≤75)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8416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Total bytes transmitted vs centralised data upload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8416" y="321868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Sparse participation sensitivity (missing clients)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28416" y="389534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Performance under differential privacy (DP) noise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389888"/>
            <a:ext cx="270662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389888"/>
            <a:ext cx="2706624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XAI Audit Scores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81344" y="186537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D1 Fidelity: SHAP rank correlation vs centralised (primary)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81344" y="25420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D2 Stability: mean SHAP shift under perturbation (primary)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81344" y="321868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D3 Fairness: max AUC gap across care-type subgroups (secondary)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81344" y="389534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2E3E52"/>
                </a:solidFill>
              </a:rPr>
              <a:t>D4 Plausibility: top-5 SHAP features vs LTC literature (light-touch)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" y="4681728"/>
            <a:ext cx="8485632" cy="310896"/>
          </a:xfrm>
          <a:prstGeom prst="rect">
            <a:avLst/>
          </a:prstGeom>
          <a:solidFill>
            <a:srgbClr val="0B1D3A">
              <a:alpha val="92000"/>
            </a:srgbClr>
          </a:solidFill>
          <a:ln w="12700">
            <a:solidFill>
              <a:srgbClr val="0B1D3A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Primary benchmark: Clustered FL must demonstrate meaningful relative improvement over both local-only models and standard FedAvg on AUC-ROC and XAI audit scores on the non-IID test set.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11 / 16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RESEARCH EXECUTION PLAN — 16 WEEKS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— Each With a Concrete Deliverable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35024"/>
            <a:ext cx="84856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35024"/>
            <a:ext cx="54864" cy="7863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2646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2646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1–3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53312" y="1408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Foundation &amp; Design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55264" y="137160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FL literature (McMahan, Li, Rieke), XAI literature (SHAP, LIME, Arrieta), LTC staffing literature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55264" y="160934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Access MIMIC-IV via PhysioNet; extract elderly subset (65+, 3+ comorbidities)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55264" y="184708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Define prediction target, study domain data schemas, finalise architecture on paper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53312" y="186537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7EA4"/>
                </a:solidFill>
              </a:rPr>
              <a:t>▸ Study architecture document + annotated literature map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" y="2157984"/>
            <a:ext cx="84856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" y="2157984"/>
            <a:ext cx="54864" cy="676656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9424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942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4–5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53312" y="2231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Data Engineering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55264" y="219456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Generate 10-facility synthetic dataset (CTGAN) with engineered non-IID distributions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55264" y="243230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Run MIMIC-IV fidelity validation: KS-test, Frobenius norm, TSTR experiment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53312" y="257860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35A0"/>
                </a:solidFill>
              </a:rPr>
              <a:t>▸ Validated synthetic LTC benchmark dataset (Contribution 2)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" y="2871216"/>
            <a:ext cx="84856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" y="2871216"/>
            <a:ext cx="54864" cy="786384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62656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6265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6–9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53312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FL Implementation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55264" y="290779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Implement Flower clients, FedAvg baseline, FedProx variant, Clustered FL (care-type)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55264" y="314553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Run full model comparison: Local vs Centralised vs FedAvg vs FedProx vs Clustered FL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55264" y="338328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Add Opacus DP noise; sweep ε = 1, 2, 5, 10; plot privacy-utility tradeoff curve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353312" y="340156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8820A"/>
                </a:solidFill>
              </a:rPr>
              <a:t>▸ FL simulation codebase + model comparison results table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" y="3694176"/>
            <a:ext cx="848563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" y="3694176"/>
            <a:ext cx="54864" cy="676656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785616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8561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10–12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53312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XAI Audit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55264" y="373075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Compute SHAP for all five models; measure explanation fidelity (rank correlation)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55264" y="3968496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Perturbation stability test (D2); subgroup fairness (D3) across care types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55264" y="420624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D4 plausibility: light-touch review of top SHAP features vs LTC literature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353312" y="411480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C6B4E"/>
                </a:solidFill>
              </a:rPr>
              <a:t>▸ XAI Audit Scorecard (Contribution 3) + comparative results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" y="4407408"/>
            <a:ext cx="848563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" y="4407408"/>
            <a:ext cx="54864" cy="694944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498848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Wk 13–16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353312" y="4480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Write-up &amp; Submission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255264" y="444398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Write results first; synthesise findings across FL performance and XAI audit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55264" y="468172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Draft paper: Abstract, Intro, Related Work, Methodology, Results, Discussion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55264" y="491947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2E3E52"/>
                </a:solidFill>
              </a:rPr>
              <a:t>Write dissertation chapter; present to institute; submit paper draft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353312" y="484632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2020"/>
                </a:solidFill>
              </a:rPr>
              <a:t>▸ Dissertation chapter + research paper (target: IEEE JBHI / MLHC 2026)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12 / 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EXPECTED FINDINGS &amp; PUBLICATION PATHWAY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Is Expected to Show — and Where It Will Be Published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53312"/>
            <a:ext cx="4572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53312"/>
            <a:ext cx="457200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Expected Research Findings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Finding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188366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Clustered FL demonstrates meaningful relative improvement over FedAvg on AUC-ROC for the Memory Care subgroup — where non-IID divergence is most extreme.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1518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Finding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98448" y="259689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TSTR fidelity experiments show synthetic LTC data captures real clinical patterns within an acceptable accuracy gap (≤8%), validating the benchmark.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28416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284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Finding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98448" y="331012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XAI audit reveals that FedAvg produces less stable explanations and higher subgroup fairness gaps than Clustered FL — a novel finding with clinical implications.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416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Finding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98448" y="402336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Differential privacy at ε ≥ 2 preserves meaningful model utility — establishing a practical privacy budget recommendation for LTC FL deployment.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75504" y="1353312"/>
            <a:ext cx="363931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75504" y="1353312"/>
            <a:ext cx="3639312" cy="64008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44752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Target Publication Venues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03520" y="1883664"/>
            <a:ext cx="338328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2084832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208483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IEEE JBHI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19385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B1D3A"/>
                </a:solidFill>
              </a:rPr>
              <a:t>Journal of Biomedical and Health Informatics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23113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Journal — first choice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03520" y="2633472"/>
            <a:ext cx="338328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283464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28346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JAMIA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26883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B1D3A"/>
                </a:solidFill>
              </a:rPr>
              <a:t>Journal of the American Medical Informatics Assoc.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98094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Journal — second choice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0" y="3383280"/>
            <a:ext cx="338328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31536" y="358444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1536" y="358444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MLHC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343814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B1D3A"/>
                </a:solidFill>
              </a:rPr>
              <a:t>Machine Learning for Healthcare Conference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373075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Conference — fast turnaround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4133088"/>
            <a:ext cx="3383280" cy="676656"/>
          </a:xfrm>
          <a:prstGeom prst="rect">
            <a:avLst/>
          </a:prstGeom>
          <a:solidFill>
            <a:srgbClr val="F3F6FA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31536" y="4334256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1536" y="43342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ACM FAccT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17920" y="418795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B1D3A"/>
                </a:solidFill>
              </a:rPr>
              <a:t>Fairness, Accountability &amp; Transparency (for XAI track)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448056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7E"/>
                </a:solidFill>
              </a:rPr>
              <a:t>Conference — XAI angle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13 / 16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WHY THIS IS A STRONG M.TECH DISSERTATION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Academic Criteria — Each Independently Satisfied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89888"/>
            <a:ext cx="8485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389888"/>
            <a:ext cx="54864" cy="6217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27048"/>
            <a:ext cx="347472" cy="34747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Genuine, documented research gap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30752" y="1517904"/>
            <a:ext cx="27432" cy="365760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44475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Staffing-acuity mismatch in LTC is a real, published crisis (AHCA 2022). No FL-based cross-facility predictive tool exists. This is a verifiable gap, not an invented problem.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" y="2066544"/>
            <a:ext cx="8485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" y="2066544"/>
            <a:ext cx="54864" cy="62179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03704"/>
            <a:ext cx="347472" cy="347472"/>
          </a:xfrm>
          <a:prstGeom prst="ellipse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Three distinct, defensible contributions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30752" y="2194560"/>
            <a:ext cx="27432" cy="365760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12140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The domain-driven clustered federation strategy (C1), the synthetic data fidelity validation methodology (C2), and the XAI Audit Scorecard (C3) each stand alone. A reviewer can critique one without invalidating the others.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" y="2743200"/>
            <a:ext cx="8485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" y="2743200"/>
            <a:ext cx="54864" cy="621792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976" y="27980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Real data validation neutralises the key objection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30752" y="2871216"/>
            <a:ext cx="27432" cy="365760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7980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Using MIMIC-IV for fidelity validation directly answers ‘your synthetic data is not real’ before a reviewer asks it. TSTR experiments are a published, peer-accepted methodology for synthetic data evaluation.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" y="3419856"/>
            <a:ext cx="8485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" y="3419856"/>
            <a:ext cx="54864" cy="621792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57016"/>
            <a:ext cx="347472" cy="347472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Executable without specialist infrastructure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730752" y="3547872"/>
            <a:ext cx="27432" cy="365760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4747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Flower + XGBoost + SHAP on CPU-only hardware. No cloud compute, no GPU, no institutional data access required. Every experiment is reproducible by any reviewer on a standard laptop.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" y="4096512"/>
            <a:ext cx="84856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" y="4096512"/>
            <a:ext cx="54864" cy="62179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33672"/>
            <a:ext cx="347472" cy="34747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50976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Aligned with active research frontiers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730752" y="4224528"/>
            <a:ext cx="27432" cy="365760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415137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E3E52"/>
                </a:solidFill>
              </a:rPr>
              <a:t>Federated learning and XAI in healthcare are among the most active areas in applied AI research. Applying both to a novel domain with a benchmark dataset positions this work at the intersection of three high-impact communities.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14 / 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SCOPE &amp; LIMITATIONS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9184" y="7498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Constraints — and Why the Research Remains Valid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353312"/>
            <a:ext cx="8485632" cy="402336"/>
          </a:xfrm>
          <a:prstGeom prst="rect">
            <a:avLst/>
          </a:prstGeom>
          <a:solidFill>
            <a:srgbClr val="FDE8B8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4D00"/>
                </a:solidFill>
              </a:rPr>
              <a:t>Acknowledging limitations is not a weakness — it demonstrates research maturity. Each limitation below is known, bounded, and either mitigated or explicitly scoped 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" y="1883664"/>
            <a:ext cx="84856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" y="1883664"/>
            <a:ext cx="54864" cy="5303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75104"/>
            <a:ext cx="292608" cy="2926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Synthetic dataset (no real PHI)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85616" y="1975104"/>
            <a:ext cx="27432" cy="347472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19202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E3E52"/>
                </a:solidFill>
              </a:rPr>
              <a:t>The FL system is trained on simulated facilities, not real resident records. This is a deliberate design choice necessitated by HIPAA, not a methodological shortcut. MIMIC-IV fidelity validation bounds the distributional gap.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63840" y="2011680"/>
            <a:ext cx="877824" cy="237744"/>
          </a:xfrm>
          <a:prstGeom prst="roundRect">
            <a:avLst>
              <a:gd name="adj" fmla="val 15385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2011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Mitigated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" y="2468880"/>
            <a:ext cx="84856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" y="2468880"/>
            <a:ext cx="54864" cy="53035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60320"/>
            <a:ext cx="292608" cy="292608"/>
          </a:xfrm>
          <a:prstGeom prst="ellipse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5054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Simulated federated topology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85616" y="2560320"/>
            <a:ext cx="27432" cy="347472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77056" y="250545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E3E52"/>
                </a:solidFill>
              </a:rPr>
              <a:t>The 10 facilities are simulated on a single machine, not a real distributed network. Communication overhead and real-world infrastructure latency are not measured. This is standard in FL research (see McMahan et al. 2017).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63840" y="2596896"/>
            <a:ext cx="877824" cy="237744"/>
          </a:xfrm>
          <a:prstGeom prst="roundRect">
            <a:avLst>
              <a:gd name="adj" fmla="val 15385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596896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Accepted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" y="3054096"/>
            <a:ext cx="84856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" y="3054096"/>
            <a:ext cx="54864" cy="530352"/>
          </a:xfrm>
          <a:prstGeom prst="rect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45536"/>
            <a:ext cx="292608" cy="292608"/>
          </a:xfrm>
          <a:prstGeom prst="ellipse">
            <a:avLst/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0906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No real-world deployment validation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85616" y="3145536"/>
            <a:ext cx="27432" cy="347472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7056" y="309067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E3E52"/>
                </a:solidFill>
              </a:rPr>
              <a:t>The model is not tested in a live care environment. Predictions are decision-support signals, not automated staffing decisions. Clinical deployment would require regulatory approval beyond dissertation scope.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63840" y="3182112"/>
            <a:ext cx="877824" cy="237744"/>
          </a:xfrm>
          <a:prstGeom prst="roundRect">
            <a:avLst>
              <a:gd name="adj" fmla="val 15385"/>
            </a:avLst>
          </a:prstGeom>
          <a:solidFill>
            <a:srgbClr val="C8820A"/>
          </a:solidFill>
          <a:ln w="12700">
            <a:solidFill>
              <a:srgbClr val="C88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318211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Scoped out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" y="3639312"/>
            <a:ext cx="84856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" y="3639312"/>
            <a:ext cx="54864" cy="530352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30752"/>
            <a:ext cx="292608" cy="292608"/>
          </a:xfrm>
          <a:prstGeom prst="ellipse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36758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MIMIC-IV is ICU data, not LTC data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785616" y="3730752"/>
            <a:ext cx="27432" cy="347472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36758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E3E52"/>
                </a:solidFill>
              </a:rPr>
              <a:t>MIMIC-IV is used only as a statistical anchor to validate distributional plausibility of the synthetic dataset — not as a domain-equivalent source or training set. Clinical equivalence is not claimed.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863840" y="3767328"/>
            <a:ext cx="877824" cy="237744"/>
          </a:xfrm>
          <a:prstGeom prst="roundRect">
            <a:avLst>
              <a:gd name="adj" fmla="val 15385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0" y="3767328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Explicit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" y="4224528"/>
            <a:ext cx="84856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9184" y="4224528"/>
            <a:ext cx="54864" cy="530352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315968"/>
            <a:ext cx="292608" cy="292608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4400" y="42611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LTC-specific generalizability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785616" y="4315968"/>
            <a:ext cx="27432" cy="347472"/>
          </a:xfrm>
          <a:prstGeom prst="rect">
            <a:avLst/>
          </a:prstGeom>
          <a:solidFill>
            <a:srgbClr val="DCE4EE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77056" y="426110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E3E52"/>
                </a:solidFill>
              </a:rPr>
              <a:t>Findings are specific to the simulated care-type structure. Generalisation to other facility configurations or international LTC systems requires further research beyond this dissertation.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863840" y="4352544"/>
            <a:ext cx="877824" cy="237744"/>
          </a:xfrm>
          <a:prstGeom prst="roundRect">
            <a:avLst>
              <a:gd name="adj" fmla="val 15385"/>
            </a:avLst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435254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Acknowledged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15 / 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754880" cy="4754880"/>
          </a:xfrm>
          <a:prstGeom prst="ellipse">
            <a:avLst/>
          </a:prstGeom>
          <a:solidFill>
            <a:srgbClr val="12A3D8">
              <a:alpha val="8000"/>
            </a:srgbClr>
          </a:solidFill>
          <a:ln w="12700">
            <a:solidFill>
              <a:srgbClr val="12A3D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A8DADC">
              <a:alpha val="7000"/>
            </a:srgbClr>
          </a:solidFill>
          <a:ln w="12700">
            <a:solidFill>
              <a:srgbClr val="A8DADC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25603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A8DADC"/>
                </a:solidFill>
              </a:rPr>
              <a:t>SUMMARY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9184" y="658368"/>
            <a:ext cx="69494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Dissertation.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Contributions.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Self-Contained Results.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9184" y="2286000"/>
            <a:ext cx="8485632" cy="713232"/>
          </a:xfrm>
          <a:prstGeom prst="rect">
            <a:avLst/>
          </a:prstGeom>
          <a:solidFill>
            <a:srgbClr val="0A4F65"/>
          </a:solidFill>
          <a:ln w="12700">
            <a:solidFill>
              <a:srgbClr val="0A7EA4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2286000"/>
            <a:ext cx="54864" cy="7132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05456"/>
            <a:ext cx="1078992" cy="256032"/>
          </a:xfrm>
          <a:prstGeom prst="roundRect">
            <a:avLst>
              <a:gd name="adj" fmla="val 14286"/>
            </a:avLst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0545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C1 — FedAcuity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64208" y="2395728"/>
            <a:ext cx="7022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DADC"/>
                </a:solidFill>
              </a:rPr>
              <a:t>Domain-driven clustered federation strategy outperforms FedAvg on non-IID LTC data. Novel application domain. Differential privacy layer.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" y="3108960"/>
            <a:ext cx="8485632" cy="713232"/>
          </a:xfrm>
          <a:prstGeom prst="rect">
            <a:avLst/>
          </a:prstGeom>
          <a:solidFill>
            <a:srgbClr val="3A1E78"/>
          </a:solidFill>
          <a:ln w="12700">
            <a:solidFill>
              <a:srgbClr val="5C35A0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3108960"/>
            <a:ext cx="54864" cy="713232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28416"/>
            <a:ext cx="1078992" cy="256032"/>
          </a:xfrm>
          <a:prstGeom prst="roundRect">
            <a:avLst>
              <a:gd name="adj" fmla="val 14286"/>
            </a:avLst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2841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C2 — Fidelity Validation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64208" y="3218688"/>
            <a:ext cx="7022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DADC"/>
                </a:solidFill>
              </a:rPr>
              <a:t>CTGAN synthetic data validated against MIMIC-IV via KS-test, Frobenius norm, and TSTR experiments. Objection pre-answered.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" y="3931920"/>
            <a:ext cx="8485632" cy="713232"/>
          </a:xfrm>
          <a:prstGeom prst="rect">
            <a:avLst/>
          </a:prstGeom>
          <a:solidFill>
            <a:srgbClr val="0A4D38"/>
          </a:solidFill>
          <a:ln w="12700">
            <a:solidFill>
              <a:srgbClr val="0C6B4E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3931920"/>
            <a:ext cx="54864" cy="713232"/>
          </a:xfrm>
          <a:prstGeom prst="rect">
            <a:avLst/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51376"/>
            <a:ext cx="1078992" cy="256032"/>
          </a:xfrm>
          <a:prstGeom prst="roundRect">
            <a:avLst>
              <a:gd name="adj" fmla="val 14286"/>
            </a:avLst>
          </a:prstGeom>
          <a:solidFill>
            <a:srgbClr val="0C6B4E"/>
          </a:solidFill>
          <a:ln w="12700">
            <a:solidFill>
              <a:srgbClr val="0C6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513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C3 — XAI Audit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64208" y="4041648"/>
            <a:ext cx="7022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DADC"/>
                </a:solidFill>
              </a:rPr>
              <a:t>4-dimension scorecard (fidelity, stability, fairness, plausibility) applied to all five model variants. Novel framework for federated clinical AI.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7EA4">
              <a:alpha val="80000"/>
            </a:srgbClr>
          </a:solidFill>
          <a:ln w="12700">
            <a:solidFill>
              <a:srgbClr val="0A7EA4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4736592"/>
            <a:ext cx="82296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</a:rPr>
              <a:t>Tanay Kashyap  ·  M.Tech AI/ML  ·  Work Integrated Learning Programme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A7E"/>
                </a:solidFill>
              </a:rPr>
              <a:t>16 / 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FedAcuity — M.Tech Dissertation Proposal</dc:title>
  <dc:subject>PptxGenJS Presentation</dc:subject>
  <dc:creator>Tanay Kashyap</dc:creator>
  <cp:lastModifiedBy>Tanay Kashyap</cp:lastModifiedBy>
  <cp:revision>1</cp:revision>
  <dcterms:created xsi:type="dcterms:W3CDTF">2026-04-14T17:44:11Z</dcterms:created>
  <dcterms:modified xsi:type="dcterms:W3CDTF">2026-04-14T17:44:11Z</dcterms:modified>
</cp:coreProperties>
</file>