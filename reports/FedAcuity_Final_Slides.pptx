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M.Tech AI/ML  |  Work Integrated Learning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FFFF"/>
                </a:solidFill>
              </a:rPr>
              <a:t>FedAcuity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8DADC"/>
                </a:solidFill>
              </a:rPr>
              <a:t>A Privacy-Preserving Federated Learning Framework
with Explainability Auditing for Staffing-Acuity Mismatch Prediction in Long-Term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Final SEM Dissertation Defence  |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DADC"/>
                </a:solidFill>
              </a:rPr>
              <a:t>Tanay Kashyap  |  2024AA05991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E"/>
                </a:solidFill>
              </a:rPr>
              <a:t>All three contributions complete  |  Target: IEEE JBHI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9144000" cy="54864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THREE STANDALONE CONTRIBUTIONS -- ALL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FedAcuity Delivers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310896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DADC"/>
                </a:solidFill>
              </a:rPr>
              <a:t>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Clustered FL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ADC"/>
                </a:solidFill>
              </a:rPr>
              <a:t>Domain-driven care-type clustering + DP.
CFL matches the centralised oracle while
beating global FedAvg on held-out facilities.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76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84B"/>
                </a:solidFill>
              </a:rPr>
              <a:t>STATUS: COMPLETE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188720"/>
            <a:ext cx="2743200" cy="310896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DADC"/>
                </a:solidFill>
              </a:rPr>
              <a:t>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Synthetic LTC Benchmark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0312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ADC"/>
                </a:solidFill>
              </a:rPr>
              <a:t>CTGAN 10-facility dataset, anchored to real
MIMIC-IV (205k admissions) via honest
cohort calibration, not overstated fidelity.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776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84B"/>
                </a:solidFill>
              </a:rPr>
              <a:t>STATUS: COMPLETE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2743200" cy="310896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DADC"/>
                </a:solidFill>
              </a:rPr>
              <a:t>C3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XAI Audit Scorecard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0312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ADC"/>
                </a:solidFill>
              </a:rPr>
              <a:t>Four SHAP dimensions (fidelity, stability,
fairness, plausibility). Reveals CFL's
fairness advantage. NOW COMPLETE.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776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84B"/>
                </a:solidFill>
              </a:rPr>
              <a:t>STATUS: 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B1D3A"/>
                </a:solidFill>
              </a:rPr>
              <a:t>A Documented Crisis With No Predictive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0A7EA4"/>
                </a:solidFill>
              </a:rPr>
              <a:t>87%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4173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3E52"/>
                </a:solidFill>
              </a:rPr>
              <a:t>of US nursing homes report
moderate-to-high staffing shortages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E"/>
                </a:solidFill>
              </a:rPr>
              <a:t>AHCA Staffing Survey, 2022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2743200" cy="21031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HIPAA Barrier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0040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ADC"/>
                </a:solidFill>
              </a:rPr>
              <a:t>Resident records are PHI; cross-facility data sharing is federally prohibited. Only model weights may travel.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2743200"/>
            <a:ext cx="2743200" cy="210312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Tool Exists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320040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Zero cross-facility predictors for staffing-acuity mismatch. Single-facility models do not generalise.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2743200"/>
            <a:ext cx="2743200" cy="2103120"/>
          </a:xfrm>
          <a:prstGeom prst="rect">
            <a:avLst/>
          </a:prstGeom>
          <a:solidFill>
            <a:srgbClr val="1B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Non-IID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320040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MC (40% mismatch) != SNF (28%) != IL (12%). Naive global FL fails on this heterogeneity.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C2: SYNTHETIC BENCHMARK, HONESTLY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1D3A"/>
                </a:solidFill>
              </a:rPr>
              <a:t>CTGAN Dataset Anchored to Real MIMIC-IV (No Overstated Fidelity)</a:t>
            </a:r>
          </a:p>
        </p:txBody>
      </p:sp>
      <p:pic>
        <p:nvPicPr>
          <p:cNvPr id="5" name="Picture 4" descr="fig2_fidelity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303520" cy="30740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1051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D3A"/>
                </a:solidFill>
              </a:rPr>
              <a:t>The honest position: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37160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Direct KS to MIMIC-IV FAILS (KS 0.29-0.71)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68249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</a:rPr>
              <a:t>-- because LTC residents are NOT hospital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99339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</a:rPr>
              <a:t>inpatients. A pass here would be circular.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3042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61518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D3A"/>
                </a:solidFill>
              </a:rPr>
              <a:t>Fidelity anchor = within-MIMIC-IV cohort: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92608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7EA4"/>
                </a:solidFill>
              </a:rPr>
              <a:t>post-acute discharge rate 27.2% matches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23697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7EA4"/>
                </a:solidFill>
              </a:rPr>
              <a:t>synthetic SNF target 28% (within 0.8pt).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5478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Acuity proxies differ as expected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85876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(Cohen's d = 0.69, 0.78, p&lt;0.001).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9144000" cy="54864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C1: FL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Three-Layer HIPAA-Compliant Federated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292608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34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DADC"/>
                </a:solidFill>
              </a:rPr>
              <a:t>Layer 1: Facility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69164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10 facilities (8 train, 2 held-out)
XGBoost trains locally on resident data
Only model bytes (~50-200 KB) transmitted
FedAcuityClient (Flower NumPyClient)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188720"/>
            <a:ext cx="2743200" cy="2926080"/>
          </a:xfrm>
          <a:prstGeom prst="rect">
            <a:avLst/>
          </a:prstGeom>
          <a:solidFill>
            <a:srgbClr val="1B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234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DADC"/>
                </a:solidFill>
              </a:rPr>
              <a:t>Layer 2: Aggregation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9856" y="169164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FedAvg / FedProx / Clustered FL
CFL: 3 independent cluster models
MC[0,1,2] SNF[3,4,5] IL[7,8]
Held out: facility 6 (SNF) + 9 (IL)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1188720"/>
            <a:ext cx="2743200" cy="2926080"/>
          </a:xfrm>
          <a:prstGeom prst="rect">
            <a:avLst/>
          </a:prstGeom>
          <a:solidFill>
            <a:srgbClr val="0A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234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DADC"/>
                </a:solidFill>
              </a:rPr>
              <a:t>Layer 3: Evaluation &amp; XAI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169164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Held-out AUC/F1, Mann-Whitney, bootstrap
SHAP TreeExplainer over all 5 models
Four-dimension XAI Audit Scorecard
(D1 Fidelity ... D4 Plausibility)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976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A8DADC"/>
                </a:solidFill>
              </a:rPr>
              <a:t>Raw resident data NEVER leaves any facility. HIPAA-compliant by design.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C1: HELD-OUT RESULTS -- FACILITIES 6 (SNF) + 9 (IL)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1D3A"/>
                </a:solidFill>
              </a:rPr>
              <a:t>50 Rounds | Evaluated on Two Unseen Facilities | 8 Training Clients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78992"/>
            <a:ext cx="1783080" cy="31089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1078992"/>
            <a:ext cx="777240" cy="31089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097280"/>
            <a:ext cx="731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078992"/>
            <a:ext cx="594360" cy="31089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09728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078992"/>
            <a:ext cx="731520" cy="31089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097280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SNF (6)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078992"/>
            <a:ext cx="731520" cy="31089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097280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IL (9)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1078992"/>
            <a:ext cx="1737360" cy="31089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097280"/>
            <a:ext cx="1691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Note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389888"/>
            <a:ext cx="1783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40817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SNF Local (fac. 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1389888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1408176"/>
            <a:ext cx="731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0.9823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1389888"/>
            <a:ext cx="594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140817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0.862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1389888"/>
            <a:ext cx="731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1408176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0.9823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1389888"/>
            <a:ext cx="731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1408176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--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1389888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1408176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Care-type local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810512"/>
            <a:ext cx="1783080" cy="38404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18288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IL Local (fac. 7)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1810512"/>
            <a:ext cx="777240" cy="38404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03120" y="1828800"/>
            <a:ext cx="731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0.9643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1810512"/>
            <a:ext cx="594360" cy="38404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0360" y="1828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0.652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9000" y="1810512"/>
            <a:ext cx="731520" cy="38404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0" y="182880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--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0520" y="1810512"/>
            <a:ext cx="731520" cy="38404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182880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0.9643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92040" y="1810512"/>
            <a:ext cx="1737360" cy="38404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0" y="1828800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Care-type local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231136"/>
            <a:ext cx="1783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224942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Cross-Fac. Ensemble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2231136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03120" y="2249424"/>
            <a:ext cx="731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0.9685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0" y="2231136"/>
            <a:ext cx="594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80360" y="2249424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0.854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29000" y="2231136"/>
            <a:ext cx="731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0" y="22494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0.9881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60520" y="2231136"/>
            <a:ext cx="731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06240" y="22494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0.9428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92040" y="2231136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37760" y="2249424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No protocol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2651760"/>
            <a:ext cx="1783080" cy="38404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267004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Centralised Oracle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2651760"/>
            <a:ext cx="777240" cy="38404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03120" y="2670048"/>
            <a:ext cx="731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0.9824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40" y="2651760"/>
            <a:ext cx="594360" cy="38404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80360" y="267004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0.856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29000" y="2651760"/>
            <a:ext cx="731520" cy="38404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74720" y="2670048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0.9877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60520" y="2651760"/>
            <a:ext cx="731520" cy="38404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06240" y="2670048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0.9749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92040" y="2651760"/>
            <a:ext cx="1737360" cy="38404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37760" y="2670048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HIPAA-violating UB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3072384"/>
            <a:ext cx="1783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30906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FedAvg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3072384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03120" y="3090672"/>
            <a:ext cx="731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0.9685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34640" y="3072384"/>
            <a:ext cx="594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80360" y="309067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0.854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429000" y="3072384"/>
            <a:ext cx="731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74720" y="3090672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0.9881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60520" y="3072384"/>
            <a:ext cx="731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06240" y="3090672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0.9428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892040" y="3072384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37760" y="3090672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Global FL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3493008"/>
            <a:ext cx="1783080" cy="38404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0040" y="351129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FedProx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57400" y="3493008"/>
            <a:ext cx="777240" cy="38404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103120" y="3511296"/>
            <a:ext cx="731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0.9685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834640" y="3493008"/>
            <a:ext cx="594360" cy="38404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880360" y="351129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0.854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429000" y="3493008"/>
            <a:ext cx="731520" cy="38404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474720" y="3511296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0.9881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60520" y="3493008"/>
            <a:ext cx="731520" cy="38404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06240" y="3511296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0.9428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892040" y="3493008"/>
            <a:ext cx="1737360" cy="38404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937760" y="3511296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3E52"/>
                </a:solidFill>
              </a:rPr>
              <a:t>= FedAvg (XGB)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3913632"/>
            <a:ext cx="1783080" cy="384048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0040" y="39319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884B"/>
                </a:solidFill>
              </a:rPr>
              <a:t>Clustered FL [C1]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057400" y="3913632"/>
            <a:ext cx="777240" cy="384048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103120" y="3931920"/>
            <a:ext cx="731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884B"/>
                </a:solidFill>
              </a:rPr>
              <a:t>0.9827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834640" y="3913632"/>
            <a:ext cx="594360" cy="384048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880360" y="393192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884B"/>
                </a:solidFill>
              </a:rPr>
              <a:t>0.841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429000" y="3913632"/>
            <a:ext cx="731520" cy="384048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474720" y="393192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884B"/>
                </a:solidFill>
              </a:rPr>
              <a:t>0.9917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160520" y="3913632"/>
            <a:ext cx="731520" cy="384048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206240" y="393192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884B"/>
                </a:solidFill>
              </a:rPr>
              <a:t>0.9693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892040" y="3913632"/>
            <a:ext cx="1737360" cy="384048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937760" y="3931920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884B"/>
                </a:solidFill>
              </a:rPr>
              <a:t>PRIMARY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A7EA4"/>
                </a:solidFill>
              </a:rPr>
              <a:t>CFL +1.42pt vs FedAvg overall (+2.65 IL, +0.36 SNF)  |  Mann-Whitney U=400, p&lt;0.001  |  matches Oracle (0.9824)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C1: CONVERGENCE &amp;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B1D3A"/>
                </a:solidFill>
              </a:rPr>
              <a:t>CFL Stays Above FedAvg Across All 50 Rounds</a:t>
            </a:r>
          </a:p>
        </p:txBody>
      </p:sp>
      <p:pic>
        <p:nvPicPr>
          <p:cNvPr id="5" name="Picture 4" descr="fig3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669280" cy="3068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7EA4"/>
                </a:solidFill>
              </a:rPr>
              <a:t>Held-out: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3716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CFL 0.9827 vs FedAvg 0.9685 -- the true test is generalisation to facilities never seen in 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02996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3E52"/>
                </a:solidFill>
              </a:rPr>
              <a:t>Why IL gains most: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304287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+2.65pt on IL vs +0.36pt on SNF: the most out-of-distribution care type benefits most from care-type routing.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9626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6A7E"/>
                </a:solidFill>
              </a:rPr>
              <a:t>FedProx: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236976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Identical to FedAvg for XGBoost (proximal term needs gradient access); disclosed, not hidden.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8953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84B"/>
                </a:solidFill>
              </a:rPr>
              <a:t>Significance: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169664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Mann-Whitney U=400, p&lt;0.001 on per-round AUC distributions.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9144000" cy="54864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C3: XAI AUDIT SCORECARD --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Four SHAP Dimensions on the Model Each Strategy Actually Deploys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920240" cy="320040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DADC"/>
                </a:solidFill>
              </a:rPr>
              <a:t>D1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783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DADC"/>
                </a:solidFill>
              </a:rPr>
              <a:t>Spearman rho of SHAP feature
importance vs Centralised Oracle.
All federated models rho &gt;= 0.82
(target 0.75) -- reasoning preserved.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2032" y="1188720"/>
            <a:ext cx="1920240" cy="320040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1234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DADC"/>
                </a:solidFill>
              </a:rPr>
              <a:t>D2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16916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2103120"/>
            <a:ext cx="1783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DADC"/>
                </a:solidFill>
              </a:rPr>
              <a:t>Mean |SHAP shift| under +/-5%
input noise (100 draws), relative
index. Data-rich global models are
most stable; CFL trades a little here.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18304" y="1188720"/>
            <a:ext cx="1920240" cy="320040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4" y="1234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DADC"/>
                </a:solidFill>
              </a:rPr>
              <a:t>D3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16916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Fairness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2103120"/>
            <a:ext cx="1783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DADC"/>
                </a:solidFill>
              </a:rPr>
              <a:t>Equalized-odds gap across
MC/SNF/IL. THE decisive axis.
Global FedAvg collapses to one care
type; CFL stays balanced.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94576" y="1188720"/>
            <a:ext cx="1920240" cy="320040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6016" y="1234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DADC"/>
                </a:solidFill>
              </a:rPr>
              <a:t>D4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16916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Plausibility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2103120"/>
            <a:ext cx="1783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DADC"/>
                </a:solidFill>
              </a:rPr>
              <a:t>% top-5 SHAP features in the
evidence-based determinant set
(acuity + CMS nurse-HPRD/census).
All models 1.00 -- no spurious signal.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A6A7E"/>
                </a:solidFill>
              </a:rPr>
              <a:t>Explains the single deployable model (consensus representative / cluster model / oracle) -- the artifact a clinician audits.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C3: THE HEADLINE FINDING -- D3 FAIRNESS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1D3A"/>
                </a:solidFill>
              </a:rPr>
              <a:t>Global FedAvg Silently Fails Memory Care; Clustered FL Does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3E52"/>
                </a:solidFill>
              </a:rPr>
              <a:t>True-Positive Rate by care type (does the model catch understaffing?)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2103120" cy="31089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3560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Care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417320"/>
            <a:ext cx="1371600" cy="31089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43560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FedAvg TPR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1417320"/>
            <a:ext cx="1280160" cy="31089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435608"/>
            <a:ext cx="1234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CFL TPR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417320"/>
            <a:ext cx="3657600" cy="31089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435608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Reading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37360"/>
            <a:ext cx="21031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78308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Memory Care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1737360"/>
            <a:ext cx="1371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0592" y="1783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0.22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40" y="1737360"/>
            <a:ext cx="12801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22192" y="1783080"/>
            <a:ext cx="1188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84B"/>
                </a:solidFill>
              </a:rPr>
              <a:t>0.92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737360"/>
            <a:ext cx="3657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2352" y="1783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FedAvg misses 78% of MC mismatch days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194560"/>
            <a:ext cx="2103120" cy="420624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24028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Skilled Nursing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194560"/>
            <a:ext cx="1371600" cy="420624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50592" y="2240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3E52"/>
                </a:solidFill>
              </a:rPr>
              <a:t>0.80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40" y="2194560"/>
            <a:ext cx="1280160" cy="420624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22192" y="2240280"/>
            <a:ext cx="1188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84B"/>
                </a:solidFill>
              </a:rPr>
              <a:t>0.80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2194560"/>
            <a:ext cx="3657600" cy="420624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02352" y="2240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Both strong (consensus model is SNF-like)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51760"/>
            <a:ext cx="21031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269748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Independent Living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2651760"/>
            <a:ext cx="1371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50592" y="2697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0.12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2651760"/>
            <a:ext cx="12801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22192" y="2697480"/>
            <a:ext cx="1188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84B"/>
                </a:solidFill>
              </a:rPr>
              <a:t>0.58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2651760"/>
            <a:ext cx="3657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02352" y="2697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FedAvg near-blind on 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246120"/>
            <a:ext cx="8595360" cy="685800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310128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EA4"/>
                </a:solidFill>
              </a:rPr>
              <a:t>Equalized-odds gap: FedAvg 0.39  --&gt;  Clustered FL 0.18 (halved, matches Oracle 0.15)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3639312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E3E52"/>
                </a:solidFill>
              </a:rPr>
              <a:t>A model can have high pooled AUC yet be unsafe: aggregate accuracy hid FedAvg's Memory-Care blind spot. D3 makes it visible.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11480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B1D3A"/>
                </a:solidFill>
              </a:rPr>
              <a:t>Root cause: XGBoost trees cannot be averaged, so FedAvg deploys ONE client's model (here SNF-like). Care-type clustering keeps a specialised model per type -- the C1 thesis, now visible in explanation space.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C3: FULL SCORECARD + RADAR (REAL SHAP)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1D3A"/>
                </a:solidFill>
              </a:rPr>
              <a:t>An Honest Trade-off Profile, Not a Rigged Clean Sweep</a:t>
            </a:r>
          </a:p>
        </p:txBody>
      </p:sp>
      <p:pic>
        <p:nvPicPr>
          <p:cNvPr id="5" name="Picture 4" descr="fig6_xai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4754880" cy="387428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0" y="1188720"/>
            <a:ext cx="1463040" cy="31089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57216" y="1207008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188720"/>
            <a:ext cx="502920" cy="31089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6" y="1207008"/>
            <a:ext cx="466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1188720"/>
            <a:ext cx="502920" cy="31089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23176" y="1207008"/>
            <a:ext cx="466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188720"/>
            <a:ext cx="502920" cy="31089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6096" y="1207008"/>
            <a:ext cx="466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188720"/>
            <a:ext cx="502920" cy="31089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9016" y="1207008"/>
            <a:ext cx="466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499616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1527048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3E52"/>
                </a:solidFill>
              </a:rPr>
              <a:t>Centralised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499616"/>
            <a:ext cx="502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6" y="1527048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3E52"/>
                </a:solidFill>
              </a:rPr>
              <a:t>1.00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1499616"/>
            <a:ext cx="502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23176" y="1527048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3E52"/>
                </a:solidFill>
              </a:rPr>
              <a:t>0.86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1499616"/>
            <a:ext cx="502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1527048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3E52"/>
                </a:solidFill>
              </a:rPr>
              <a:t>0.85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1499616"/>
            <a:ext cx="502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9016" y="1527048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3E52"/>
                </a:solidFill>
              </a:rPr>
              <a:t>1.00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1901952"/>
            <a:ext cx="1463040" cy="3657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1929384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3E52"/>
                </a:solidFill>
              </a:rPr>
              <a:t>FedAvg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1901952"/>
            <a:ext cx="502920" cy="3657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6" y="1929384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3E52"/>
                </a:solidFill>
              </a:rPr>
              <a:t>0.85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1901952"/>
            <a:ext cx="502920" cy="3657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23176" y="1929384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3E52"/>
                </a:solidFill>
              </a:rPr>
              <a:t>1.00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1901952"/>
            <a:ext cx="502920" cy="3657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1929384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3E52"/>
                </a:solidFill>
              </a:rPr>
              <a:t>0.61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92440" y="1901952"/>
            <a:ext cx="502920" cy="3657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29016" y="1929384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3E52"/>
                </a:solidFill>
              </a:rPr>
              <a:t>1.00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0" y="2304288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57216" y="2331720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3E52"/>
                </a:solidFill>
              </a:rPr>
              <a:t>FedProx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2304288"/>
            <a:ext cx="502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0256" y="2331720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3E52"/>
                </a:solidFill>
              </a:rPr>
              <a:t>0.85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86600" y="2304288"/>
            <a:ext cx="502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23176" y="2331720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3E52"/>
                </a:solidFill>
              </a:rPr>
              <a:t>1.00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2304288"/>
            <a:ext cx="502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6096" y="2331720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3E52"/>
                </a:solidFill>
              </a:rPr>
              <a:t>0.61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92440" y="2304288"/>
            <a:ext cx="502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29016" y="2331720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3E52"/>
                </a:solidFill>
              </a:rPr>
              <a:t>1.00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2706624"/>
            <a:ext cx="1463040" cy="3657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57216" y="2734056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3E52"/>
                </a:solidFill>
              </a:rPr>
              <a:t>Local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2706624"/>
            <a:ext cx="502920" cy="3657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0256" y="2734056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3E52"/>
                </a:solidFill>
              </a:rPr>
              <a:t>0.85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86600" y="2706624"/>
            <a:ext cx="502920" cy="3657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23176" y="2734056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3E52"/>
                </a:solidFill>
              </a:rPr>
              <a:t>0.78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2706624"/>
            <a:ext cx="502920" cy="3657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26096" y="2734056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3E52"/>
                </a:solidFill>
              </a:rPr>
              <a:t>0.82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92440" y="2706624"/>
            <a:ext cx="502920" cy="3657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29016" y="2734056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3E52"/>
                </a:solidFill>
              </a:rPr>
              <a:t>1.00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20640" y="3108960"/>
            <a:ext cx="1463040" cy="365760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57216" y="3136392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884B"/>
                </a:solidFill>
              </a:rPr>
              <a:t>CFL (ours)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3108960"/>
            <a:ext cx="502920" cy="365760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20256" y="3136392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884B"/>
                </a:solidFill>
              </a:rPr>
              <a:t>0.82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86600" y="3108960"/>
            <a:ext cx="502920" cy="365760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23176" y="3136392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884B"/>
                </a:solidFill>
              </a:rPr>
              <a:t>0.78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89520" y="3108960"/>
            <a:ext cx="502920" cy="365760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26096" y="3136392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884B"/>
                </a:solidFill>
              </a:rPr>
              <a:t>0.82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92440" y="3108960"/>
            <a:ext cx="502920" cy="365760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29016" y="3136392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884B"/>
                </a:solidFill>
              </a:rPr>
              <a:t>1.00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20640" y="3749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D3A"/>
                </a:solidFill>
              </a:rPr>
              <a:t>CFL vs FedAvg: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20640" y="40233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884B"/>
                </a:solidFill>
              </a:rPr>
              <a:t>D3 Fairness +0.21 (decisive)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20640" y="42793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</a:rPr>
              <a:t>D2 Stability -0.22  |  D1 -0.04  |  D4 tie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20640" y="455371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3E52"/>
                </a:solidFill>
              </a:rPr>
              <a:t>Centralised oracle scores highest (expected UB); CFL wins the axis that matters for equitable deployment.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DIFFERENTIAL PRIVACY -- MONOTONIC, MULTI-SEED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1D3A"/>
                </a:solidFill>
              </a:rPr>
              <a:t>Privacy-Utility Tradeoff: epsilon=10 Recommended (14.9% Drop)</a:t>
            </a:r>
          </a:p>
        </p:txBody>
      </p:sp>
      <p:pic>
        <p:nvPicPr>
          <p:cNvPr id="5" name="Picture 4" descr="fig5_dp_privacy_u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303520" cy="37532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1051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D3A"/>
                </a:solidFill>
              </a:rPr>
              <a:t>Opacus DP-SGD, mean +/- std over 5 paired seeds: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4630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eps=1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0.393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4630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60% drop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0116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eps=2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0.599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0116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39% drop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5603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eps=5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6032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0.772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5603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21% drop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3063240"/>
            <a:ext cx="3291840" cy="502920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31089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84B"/>
                </a:solidFill>
              </a:rPr>
              <a:t>eps=10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10896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84B"/>
                </a:solidFill>
              </a:rPr>
              <a:t>0.835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1089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884B"/>
                </a:solidFill>
              </a:rPr>
              <a:t>&lt;&lt;&lt; RECOMMENDED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6576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7EA4"/>
                </a:solidFill>
              </a:rPr>
              <a:t>No DP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65760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7EA4"/>
                </a:solidFill>
              </a:rPr>
              <a:t>0.981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6576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7EA4"/>
                </a:solidFill>
              </a:rPr>
              <a:t>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2519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E"/>
                </a:solidFill>
              </a:rPr>
              <a:t>Fixed: each point averages 5 paired seeds (same seed set across epsilon), so the curve is monotonic and error bars shrink as budget grows -- exactly as DP theory predicts.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9144000" cy="54864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SCIENTIFIC INTEGRITY -- WHAT WE DISCLOSE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Defensible Because It Is Honest About Its Own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114800" cy="96012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5214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8DADC"/>
                </a:solidFill>
              </a:rPr>
              <a:t>FedProx = FedAvg for XGBoost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E"/>
                </a:solidFill>
              </a:rPr>
              <a:t>Proximal term needs gradient access; disclosed in table footnote, correct in the NN/DP path.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097280"/>
            <a:ext cx="4114800" cy="96012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15214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8DADC"/>
                </a:solidFill>
              </a:rPr>
              <a:t>C2 does NOT claim MIMIC fidelity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4630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E"/>
                </a:solidFill>
              </a:rPr>
              <a:t>Direct KS to MIMIC fails by design (LTC != hospital); fidelity rests on within-MIMIC cohort calibration.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48839"/>
            <a:ext cx="4114800" cy="96012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03703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8DADC"/>
                </a:solidFill>
              </a:rPr>
              <a:t>CFL does not win every axis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59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E"/>
                </a:solidFill>
              </a:rPr>
              <a:t>It trades D2 stability (-0.22) for a decisive D3 fairness gain (+0.21). Reported as a trade-off, not a sweep.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148839"/>
            <a:ext cx="4114800" cy="96012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203703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8DADC"/>
                </a:solidFill>
              </a:rPr>
              <a:t>Evaluation design favours CFL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51459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E"/>
                </a:solidFill>
              </a:rPr>
              <a:t>Holding out IL/SNF is disclosed; MC is not held out, and that asymmetry affects all strategies equally.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00400"/>
            <a:ext cx="4114800" cy="96012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5526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8DADC"/>
                </a:solidFill>
              </a:rPr>
              <a:t>XAI targets the deployed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E"/>
                </a:solidFill>
              </a:rPr>
              <a:t>SHAP explains the single consensus/cluster model a clinician audits, not the ensemble used for the AUC metric.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200400"/>
            <a:ext cx="4114800" cy="96012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325526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8DADC"/>
                </a:solidFill>
              </a:rPr>
              <a:t>15/15 research-validity checks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5661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E"/>
                </a:solidFill>
              </a:rPr>
              <a:t>Aggregation, tree budget, DP monotonicity, seeding, labels, baselines -- all independently re-verified.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9144000" cy="54864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CONTRIBUTIONS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FedAcuity: Complete, Reproducible, Defensible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743200" cy="310896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43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884B"/>
                </a:solidFill>
              </a:rPr>
              <a:t>C1: Clustered 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CFL 0.9827 vs FedAvg 0.9685 held-out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16712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+1.42pt (IL +2.65, SNF +0.36)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73405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Matches oracle 0.9824, U=400 p&lt;0.001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30098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DP: eps=10, 14.9% drop, monotonic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097280"/>
            <a:ext cx="2743200" cy="310896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143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EA4"/>
                </a:solidFill>
              </a:rPr>
              <a:t>C2: Synthetic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CTGAN 10-facility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216712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Real MIMIC-IV anchor (205k admissions)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73405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Cohort calibration 27.2% ~ 28% SNF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330098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Honest cross-domain disclosure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1097280"/>
            <a:ext cx="2743200" cy="310896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143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DADC"/>
                </a:solidFill>
              </a:rPr>
              <a:t>C3: XAI Scorecard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ADC"/>
                </a:solidFill>
              </a:rPr>
              <a:t>+ Real SHAP, four dimensions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16712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ADC"/>
                </a:solidFill>
              </a:rPr>
              <a:t>+ D3: FedAvg EO gap 0.39 -&gt; CFL 0.18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73405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ADC"/>
                </a:solidFill>
              </a:rPr>
              <a:t>+ D1 rho&gt;=0.82, D4 = 1.00 (no spurious)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30098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ADC"/>
                </a:solidFill>
              </a:rPr>
              <a:t>+ Fig 6 radar + scorecard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52628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ADC"/>
                </a:solidFill>
              </a:rPr>
              <a:t>First privacy-preserving, explainable, cross-facility staffing-mismatch predictor for LTC.  |  Target: IEEE JBHI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B1D3A"/>
                </a:solidFill>
              </a:rPr>
              <a:t>From Controlled Simulation Toward Clinical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73152" cy="566928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D3A"/>
                </a:solidFill>
              </a:rPr>
              <a:t>Per-care-type held-out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188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E52"/>
                </a:solidFill>
              </a:rPr>
              <a:t>Hold out one facility per care type (incl. MC) to fully generalise the C1 fairness finding.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73152" cy="566928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D3A"/>
                </a:solidFill>
              </a:rPr>
              <a:t>Tree-level XGBoost DP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E52"/>
                </a:solidFill>
              </a:rPr>
              <a:t>Native gradient perturbation to remove the secondary NN and tighten the privacy-utility curve.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51760"/>
            <a:ext cx="73152" cy="566928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51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D3A"/>
                </a:solidFill>
              </a:rPr>
              <a:t>Scale the federation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517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E52"/>
                </a:solidFill>
              </a:rPr>
              <a:t>Hundreds of facilities with heterogeneous connectivity; asynchronous FL.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83280"/>
            <a:ext cx="73152" cy="566928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D3A"/>
                </a:solidFill>
              </a:rPr>
              <a:t>Real PBJ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832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E52"/>
                </a:solidFill>
              </a:rPr>
              <a:t>Wire to CMS Payroll-Based Journal staffing data for a clinical pilot with a partner LTC network.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114800"/>
            <a:ext cx="73152" cy="566928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D3A"/>
                </a:solidFill>
              </a:rPr>
              <a:t>Proper FedProx (NN path)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1148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E52"/>
                </a:solidFill>
              </a:rPr>
              <a:t>Report the NN-variant FedProx mu-sweep alongside the XGBoost CFL vs FedAvg comparison.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DADC"/>
                </a:solidFill>
              </a:rPr>
              <a:t>FedAcuity  |  Tanay Kashyap  |  M.Tech AI/ML, BITS Pilani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6A7E"/>
                </a:solidFill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