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M.Tech AI/ML  |  Work Integrated Learning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FFFFFF"/>
                </a:solidFill>
              </a:rPr>
              <a:t>FedAcuity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8DADC"/>
                </a:solidFill>
              </a:rPr>
              <a:t>A Privacy-Preserving Federated Learning Framework
with Explainability Auditing for Staffing-Acuity Mismatch Prediction in Long-Term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MidSEM Progress Report  | 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8DADC"/>
                </a:solidFill>
              </a:rPr>
              <a:t>Tanay Kashyap  |  2024AA05991  |  NuAlg Infotech Private Limited, Indore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E"/>
                </a:solidFill>
              </a:rPr>
              <a:t>Target: IEEE Journal of Biomedical and Health Informatics (JBHI)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B1D3A"/>
                </a:solidFill>
              </a:rPr>
              <a:t>What This Presentation Covers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56032" cy="256032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3444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1D3A"/>
                </a:solidFill>
              </a:rPr>
              <a:t>Problem Recap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23444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Why staffing-acuity mismatch in LTC demands a federated solution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00784"/>
            <a:ext cx="256032" cy="256032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655064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550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1D3A"/>
                </a:solidFill>
              </a:rPr>
              <a:t>Abstract Phase Recap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655064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What we proposed: 3 contributions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121408"/>
            <a:ext cx="256032" cy="256032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07568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0756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1D3A"/>
                </a:solidFill>
              </a:rPr>
              <a:t>C2: Synthetic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075688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CTGAN pipeline built and fidelity-validated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542032"/>
            <a:ext cx="256032" cy="256032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49631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4963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1D3A"/>
                </a:solidFill>
              </a:rPr>
              <a:t>C1: FL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249631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All 5 strategies implemented and benchmarked (50 rounds)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962656"/>
            <a:ext cx="256032" cy="256032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916936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1D3A"/>
                </a:solidFill>
              </a:rPr>
              <a:t>C1: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2916936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CFL 0.9790 vs FedAvg 0.8474 on held-out IL -- 13.2pt gap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256032" cy="256032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33756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337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1D3A"/>
                </a:solidFill>
              </a:rPr>
              <a:t>DP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333756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Epsilon sweep done: epsilon=5 recommended (12.3% drop)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803904"/>
            <a:ext cx="256032" cy="256032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758184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7581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1D3A"/>
                </a:solidFill>
              </a:rPr>
              <a:t>Statistical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3758184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Mann-Whitney U=144, p=3.6e-5 (highly significant)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224528"/>
            <a:ext cx="256032" cy="256032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417880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1788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1D3A"/>
                </a:solidFill>
              </a:rPr>
              <a:t>C3: XAI Plan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4178808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SHAP pipeline + D1-D4 dimensions (post-MidSEM, Jun 14 onwards)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645152"/>
            <a:ext cx="256032" cy="256032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459943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5994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1D3A"/>
                </a:solidFill>
              </a:rPr>
              <a:t>Timeline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14600" y="459943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Abstract to Final SEM roadmap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B1D3A"/>
                </a:solidFill>
              </a:rPr>
              <a:t>A Documented Crisis With No Predictive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0A7EA4"/>
                </a:solidFill>
              </a:rPr>
              <a:t>87%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41732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3E52"/>
                </a:solidFill>
              </a:rPr>
              <a:t>of US nursing homes report
moderate-to-high staffing shortages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6A7E"/>
                </a:solidFill>
              </a:rPr>
              <a:t>AHCA Staffing Survey, 2022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2743200" cy="21031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HIPAA Barrier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0040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ADC"/>
                </a:solidFill>
              </a:rPr>
              <a:t>Resident records = PHI. Cross-facility data sharing is federally prohibited. Penalties up to $1.9M per violation.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2743200"/>
            <a:ext cx="2743200" cy="210312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 Tool Exists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320040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Zero cross-facility predictive tools for staffing-acuity mismatch. Single-facility regression models cannot generalise.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2743200"/>
            <a:ext cx="2743200" cy="2103120"/>
          </a:xfrm>
          <a:prstGeom prst="rect">
            <a:avLst/>
          </a:prstGeom>
          <a:solidFill>
            <a:srgbClr val="1B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Non-IID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320040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Memory Care (40% mismatch) != Skilled Nursing (28%) != Independent Living (12%). Standard FL fails on this heterogeneity.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80560"/>
            <a:ext cx="9144000" cy="54864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ABSTRACT PHASE: WHAT WE PROPOSED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Three Standalone, Independently Publishable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310896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8DADC"/>
                </a:solidFill>
              </a:rPr>
              <a:t>C1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FedAcuity FL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ADC"/>
                </a:solidFill>
              </a:rPr>
              <a:t>Domain-driven Clustered FL grouping facilities by care type.
FedAvg + FedProx + CFL comparison across 10 simulated facilities.
Differential privacy via Opacus DP-SGD.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776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84B"/>
                </a:solidFill>
              </a:rPr>
              <a:t>STATUS: COMPLETE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188720"/>
            <a:ext cx="2743200" cy="310896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234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8DADC"/>
                </a:solidFill>
              </a:rPr>
              <a:t>C2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Synthetic LTC Benchmark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0312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ADC"/>
                </a:solidFill>
              </a:rPr>
              <a:t>CTGAN-generated dataset: 10 facilities x 3 years x 15 features.
Fidelity validation: KS-test, Frobenius norm, TSTR.
Note: MIMIC-IV as statistical anchor (access pending).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9776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84B"/>
                </a:solidFill>
              </a:rPr>
              <a:t>STATUS: COMPLETE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2743200" cy="3108960"/>
          </a:xfrm>
          <a:prstGeom prst="rect">
            <a:avLst/>
          </a:prstGeom>
          <a:solidFill>
            <a:srgbClr val="1B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34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8DADC"/>
                </a:solidFill>
              </a:rPr>
              <a:t>C3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XAI Audit Scorecard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0312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ADC"/>
                </a:solidFill>
              </a:rPr>
              <a:t>4-dimension SHAP audit: D1 Fidelity, D2 Stability,
D3 Fairness, D4 Clinical Plausibility.
Applied across all 5 model variants.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9776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STATUS: WEEK 3-4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C2: SYNTHETIC DATA PIPELINE -- BUILT &amp; 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B1D3A"/>
                </a:solidFill>
              </a:rPr>
              <a:t>CTGAN Benchmark: 10 Facilities, 10,950 Records, 15 Clinical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920240" cy="320040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8DADC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6002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Schema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965960"/>
            <a:ext cx="1783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DADC"/>
                </a:solidFill>
              </a:rPr>
              <a:t>15 features from MDS 3.0, RUG-IV,
CMS PBJ staffing data.
Binary mismatch label calibrated
per care type.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450591" y="1188720"/>
            <a:ext cx="1920240" cy="320040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3743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8DADC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3743" y="16002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CTGAN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3" y="1965960"/>
            <a:ext cx="1783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DADC"/>
                </a:solidFill>
              </a:rPr>
              <a:t>1 model per facility, 500 epochs.
Generator + Discriminator [256,256].
~1,095 records/facility x 10 = 10,950 total.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26864" y="1188720"/>
            <a:ext cx="1920240" cy="320040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8DADC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16002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Non-IID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1965960"/>
            <a:ext cx="1783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DADC"/>
                </a:solidFill>
              </a:rPr>
              <a:t>MC: adl_cognition=4.5, mismatch=40%
SNF: adl_cognition=2.5, mismatch=28%
IL: adl_cognition=1.0, mismatch=12%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03136" y="1188720"/>
            <a:ext cx="1920240" cy="3200400"/>
          </a:xfrm>
          <a:prstGeom prst="rect">
            <a:avLst/>
          </a:prstGeom>
          <a:solidFill>
            <a:srgbClr val="1B8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76288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8DADC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16002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Fidelity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1965960"/>
            <a:ext cx="1783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DADC"/>
                </a:solidFill>
              </a:rPr>
              <a:t>KS-test: 14/14 features PASS
Frobenius norm: 0.2436
(baseline 4.3365 -- 18x better)
TSTR gap: 0.0183 (target &lt;0.08 PASS)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B5E00"/>
                </a:solidFill>
              </a:rPr>
              <a:t>IMPORTANT: MIMIC-IV PhysioNet access applied for, not yet granted. Fidelity validation uses a 20% synthetic holdout as proxy. Results will be recomputed with real MIMIC-IV upon access.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C2: FIDELITY RESULTS -- SYNTHETIC SELF-VALIDATION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B1D3A"/>
                </a:solidFill>
              </a:rPr>
              <a:t>Synthetic Data Quality Validated via Three Complementary Tests</a:t>
            </a:r>
          </a:p>
        </p:txBody>
      </p:sp>
      <p:pic>
        <p:nvPicPr>
          <p:cNvPr id="5" name="Picture 4" descr="fig2_fidelity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486400" cy="37593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1051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6A7E"/>
                </a:solidFill>
              </a:rPr>
              <a:t>KS-Test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32588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884B"/>
                </a:solidFill>
              </a:rPr>
              <a:t>14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20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features pass
alpha=0.05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331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6A7E"/>
                </a:solidFill>
              </a:rPr>
              <a:t>Frobenius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60604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884B"/>
                </a:solidFill>
              </a:rPr>
              <a:t>0.2436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200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vs baseline 4.3365
(18x better)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61187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6A7E"/>
                </a:solidFill>
              </a:rPr>
              <a:t>TSTR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886199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884B"/>
                </a:solidFill>
              </a:rPr>
              <a:t>0.0183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48055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target &lt;0.08
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754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A6A7E"/>
                </a:solidFill>
              </a:rPr>
              <a:t>Note: Synthetic holdout proxy used (MIMIC-IV pending)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80560"/>
            <a:ext cx="9144000" cy="54864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C1: FL ARCHITECTURE --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Three-Layer HIPAA-Compliant Federated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292608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234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DADC"/>
                </a:solidFill>
              </a:rPr>
              <a:t>Layer 1: Facility 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69164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10 facilities (8 train, 2 held-out)
XGBoost trains locally on resident records
Only model bytes (~50-200 KB) transmitted
FedAcuityClient (Flower NumPyClient)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188720"/>
            <a:ext cx="2743200" cy="2926080"/>
          </a:xfrm>
          <a:prstGeom prst="rect">
            <a:avLst/>
          </a:prstGeom>
          <a:solidFill>
            <a:srgbClr val="1B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234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DADC"/>
                </a:solidFill>
              </a:rPr>
              <a:t>Layer 2: Aggregation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9856" y="169164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Three strategies compared:
FedAvg / FedProx / Clustered FL
CFL: 3 independent cluster models
MC [0,1,2], SNF [3,4,5,6], IL [7]
Facilities 8 &amp; 9 HELD OUT always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4496" y="1188720"/>
            <a:ext cx="2743200" cy="2926080"/>
          </a:xfrm>
          <a:prstGeom prst="rect">
            <a:avLst/>
          </a:prstGeom>
          <a:solidFill>
            <a:srgbClr val="0A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234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DADC"/>
                </a:solidFill>
              </a:rPr>
              <a:t>Layer 3: Evaluation &amp; XAI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169164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ResultsLogger: JSON + CSV per round
metrics.py: bootstrap CI + Mann-Whitney
figures.py: convergence + bar chart
XAI: SHAP TreeExplainer (post-MidSEM)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976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A8DADC"/>
                </a:solidFill>
              </a:rPr>
              <a:t>Raw resident data NEVER leaves any facility. Only model weights travel. HIPAA-compliant by design.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C1: WHY CLUSTERED FL? THE NON-IID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B1D3A"/>
                </a:solidFill>
              </a:rPr>
              <a:t>Global FedAvg Fails on Independent Living Facilities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1D3A"/>
                </a:solidFill>
              </a:rPr>
              <a:t>The Core Problem: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63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Memory Care (MC): 40% mismatch rate, adl_cognition=4.5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7922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Skilled Nursing (SNF): 28% mismatch rate, adl_cognition=2.5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214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Independent Living (IL): 12% mismatch rate, adl_cognition=1.0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77977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* FedAvg averages gradients from ALL three care types.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108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* IL facilities (low acuity, low mismatch) are drowned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4381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* by MC + SNF signals during global aggregation.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0965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7EA4"/>
                </a:solidFill>
              </a:rPr>
              <a:t>CFL solution: Each cluster trains its own global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42569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* IL model sees only IL data -&gt; far better generalisation.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097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1D3A"/>
                </a:solidFill>
              </a:rPr>
              <a:t>On Held-Out IL Facilities: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463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7EA4"/>
                </a:solidFill>
              </a:rPr>
              <a:t>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46304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7EA4"/>
                </a:solidFill>
              </a:rPr>
              <a:t>AUC-ROC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1463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7EA4"/>
                </a:solidFill>
              </a:rPr>
              <a:t>F1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99339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</a:rPr>
              <a:t>Centralised (UB)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99339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E"/>
                </a:solidFill>
              </a:rPr>
              <a:t>0.9793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199339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A7E"/>
                </a:solidFill>
              </a:rPr>
              <a:t>0.736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52374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84B"/>
                </a:solidFill>
              </a:rPr>
              <a:t>Clustered FL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523744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884B"/>
                </a:solidFill>
              </a:rPr>
              <a:t>0.9790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52374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884B"/>
                </a:solidFill>
              </a:rPr>
              <a:t>0.750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05409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FedAvg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054096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</a:rPr>
              <a:t>0.8474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305409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</a:rPr>
              <a:t>0.419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5844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FedProx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5844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</a:rPr>
              <a:t>0.8474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58444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</a:rPr>
              <a:t>0.419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1993392"/>
            <a:ext cx="3931920" cy="530352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4206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7EA4"/>
                </a:solidFill>
              </a:rPr>
              <a:t>13.2 AUC POINT GAP: CFL vs FedAvg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C1: FULL RESULTS TABLE -- HELD-OUT FACILITIES 8 &amp;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1D3A"/>
                </a:solidFill>
              </a:rPr>
              <a:t>50 Communication Rounds | Evaluated on Unseen IL Facilities | 8 Training Clients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737360" cy="347472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07008"/>
            <a:ext cx="1691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188720"/>
            <a:ext cx="731520" cy="347472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120700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188720"/>
            <a:ext cx="777240" cy="347472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207008"/>
            <a:ext cx="731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F1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188720"/>
            <a:ext cx="777240" cy="347472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207008"/>
            <a:ext cx="731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188720"/>
            <a:ext cx="685800" cy="347472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20700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188720"/>
            <a:ext cx="2194560" cy="347472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20700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36192"/>
            <a:ext cx="1737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572768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3E52"/>
                </a:solidFill>
              </a:rPr>
              <a:t>Local (no FL)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1536192"/>
            <a:ext cx="7315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157276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3E52"/>
                </a:solidFill>
              </a:rPr>
              <a:t>0.9484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1536192"/>
            <a:ext cx="777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1572768"/>
            <a:ext cx="731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3E52"/>
                </a:solidFill>
              </a:rPr>
              <a:t>  -- 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1536192"/>
            <a:ext cx="777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1572768"/>
            <a:ext cx="731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3E52"/>
                </a:solidFill>
              </a:rPr>
              <a:t>  -- 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1536192"/>
            <a:ext cx="685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157276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3E52"/>
                </a:solidFill>
              </a:rPr>
              <a:t>  -- 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1536192"/>
            <a:ext cx="2194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157276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3E52"/>
                </a:solidFill>
              </a:rPr>
              <a:t>Baseline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048256"/>
            <a:ext cx="1737360" cy="47548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084832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3E52"/>
                </a:solidFill>
              </a:rPr>
              <a:t>Centralised Oracle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1680" y="2048256"/>
            <a:ext cx="731520" cy="47548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2084832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3E52"/>
                </a:solidFill>
              </a:rPr>
              <a:t>0.9793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2048256"/>
            <a:ext cx="777240" cy="47548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88920" y="2084832"/>
            <a:ext cx="731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3E52"/>
                </a:solidFill>
              </a:rPr>
              <a:t>0.7356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048256"/>
            <a:ext cx="777240" cy="47548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2084832"/>
            <a:ext cx="731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3E52"/>
                </a:solidFill>
              </a:rPr>
              <a:t>0.9143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2048256"/>
            <a:ext cx="685800" cy="47548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43400" y="208483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3E52"/>
                </a:solidFill>
              </a:rPr>
              <a:t>0.6154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2048256"/>
            <a:ext cx="2194560" cy="47548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0" y="208483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3E52"/>
                </a:solidFill>
              </a:rPr>
              <a:t>Upper bound (HIPAA violation)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560320"/>
            <a:ext cx="1737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2596896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3E52"/>
                </a:solidFill>
              </a:rPr>
              <a:t>FedAvg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11680" y="2560320"/>
            <a:ext cx="7315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2596896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392B"/>
                </a:solidFill>
              </a:rPr>
              <a:t>0.8474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0" y="2560320"/>
            <a:ext cx="777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88920" y="2596896"/>
            <a:ext cx="731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392B"/>
                </a:solidFill>
              </a:rPr>
              <a:t>0.4192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20440" y="2560320"/>
            <a:ext cx="777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66160" y="2596896"/>
            <a:ext cx="731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392B"/>
                </a:solidFill>
              </a:rPr>
              <a:t>0.3043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97680" y="2560320"/>
            <a:ext cx="685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43400" y="2596896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392B"/>
                </a:solidFill>
              </a:rPr>
              <a:t>0.6731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83480" y="2560320"/>
            <a:ext cx="2194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0" y="2596896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3E52"/>
                </a:solidFill>
              </a:rPr>
              <a:t>Global FL fails on IL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072384"/>
            <a:ext cx="1737360" cy="47548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310896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3E52"/>
                </a:solidFill>
              </a:rPr>
              <a:t>FedProx (mu=0.1)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11680" y="3072384"/>
            <a:ext cx="731520" cy="47548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3108960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392B"/>
                </a:solidFill>
              </a:rPr>
              <a:t>0.8474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0" y="3072384"/>
            <a:ext cx="777240" cy="47548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88920" y="3108960"/>
            <a:ext cx="731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392B"/>
                </a:solidFill>
              </a:rPr>
              <a:t>0.4192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0440" y="3072384"/>
            <a:ext cx="777240" cy="47548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66160" y="3108960"/>
            <a:ext cx="731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392B"/>
                </a:solidFill>
              </a:rPr>
              <a:t>0.3043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97680" y="3072384"/>
            <a:ext cx="685800" cy="47548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43400" y="31089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392B"/>
                </a:solidFill>
              </a:rPr>
              <a:t>0.6731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83480" y="3072384"/>
            <a:ext cx="2194560" cy="47548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0" y="31089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3E52"/>
                </a:solidFill>
              </a:rPr>
              <a:t>Same issue as FedAvg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3584448"/>
            <a:ext cx="1737360" cy="475488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3621024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884B"/>
                </a:solidFill>
              </a:rPr>
              <a:t>Clustered FL [C1]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11680" y="3584448"/>
            <a:ext cx="731520" cy="475488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3621024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884B"/>
                </a:solidFill>
              </a:rPr>
              <a:t>0.9790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0" y="3584448"/>
            <a:ext cx="777240" cy="475488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88920" y="3621024"/>
            <a:ext cx="731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884B"/>
                </a:solidFill>
              </a:rPr>
              <a:t>0.7500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520440" y="3584448"/>
            <a:ext cx="777240" cy="475488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566160" y="3621024"/>
            <a:ext cx="731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884B"/>
                </a:solidFill>
              </a:rPr>
              <a:t>0.9167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97680" y="3584448"/>
            <a:ext cx="685800" cy="475488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43400" y="3621024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884B"/>
                </a:solidFill>
              </a:rPr>
              <a:t>0.6346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83480" y="3584448"/>
            <a:ext cx="2194560" cy="475488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0" y="3621024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884B"/>
                </a:solidFill>
              </a:rPr>
              <a:t>PRIMARY CONTRIBUTION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7EA4"/>
                </a:solidFill>
              </a:rPr>
              <a:t>Mann-Whitney U = 144  |  p = 3.6 x 10^-5  |  Statistically HIGHLY SIGNIFICANT (CFL vs FedAvg)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C1: FL CONVERGENCE CURVES -- 50 ROUNDS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B1D3A"/>
                </a:solidFill>
              </a:rPr>
              <a:t>CFL Consistently Outperforms FedAvg Across All 50 Rounds</a:t>
            </a:r>
          </a:p>
        </p:txBody>
      </p:sp>
      <p:pic>
        <p:nvPicPr>
          <p:cNvPr id="5" name="Picture 4" descr="fig3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669280" cy="30682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10515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84B"/>
                </a:solidFill>
              </a:rPr>
              <a:t>CFL: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10515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Converges at AUC 0.9826 (training clients)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6184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FedAvg: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61848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Plateaus at AUC 0.9630 -- 1.96 pts below CFL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185415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FedProx: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185415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Identical to FedAvg (same proxy aggregation)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3192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3E52"/>
                </a:solidFill>
              </a:rPr>
              <a:t>Observation: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31927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FedAvg/FedProx show slight AUC decay over rounds -- IL clients drag down the global model as it overfits MC/SNF patterns.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453127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7EA4"/>
                </a:solidFill>
              </a:rPr>
              <a:t>On held-out: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4453127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3E52"/>
                </a:solidFill>
              </a:rPr>
              <a:t>CFL 0.9790 vs FedAvg 0.8474 -- the true test of generalisation to unseen 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DIFFERENTIAL PRIVACY -- EPSILON SWEEP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1D3A"/>
                </a:solidFill>
              </a:rPr>
              <a:t>Privacy-Utility Tradeoff: epsilon=10 Is the Recommended Operating Point</a:t>
            </a:r>
          </a:p>
        </p:txBody>
      </p:sp>
      <p:pic>
        <p:nvPicPr>
          <p:cNvPr id="5" name="Picture 4" descr="fig5_dp_privacy_u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303520" cy="36014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1051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D3A"/>
                </a:solidFill>
              </a:rPr>
              <a:t>Results (Opacus DP-SGD on StaffingNN):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4173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eps=1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4173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0.6784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4173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31.0% drop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98424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eps=2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98424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0.7055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98424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28.2% drop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2505456"/>
            <a:ext cx="3200400" cy="502920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2551176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84B"/>
                </a:solidFill>
              </a:rPr>
              <a:t>eps=5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551176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84B"/>
                </a:solidFill>
              </a:rPr>
              <a:t>0.7142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55117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884B"/>
                </a:solidFill>
              </a:rPr>
              <a:t>27.3% drop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118104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39C12"/>
                </a:solidFill>
              </a:rPr>
              <a:t>eps=10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118104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39C12"/>
                </a:solidFill>
              </a:rPr>
              <a:t>0.8288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11810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39C12"/>
                </a:solidFill>
              </a:rPr>
              <a:t>&lt;&lt;&lt; RECOMMENDED (15.7% drop)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68503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7EA4"/>
                </a:solidFill>
              </a:rPr>
              <a:t>No DP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68503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7EA4"/>
                </a:solidFill>
              </a:rPr>
              <a:t>0.9829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6850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7EA4"/>
                </a:solidFill>
              </a:rPr>
              <a:t>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43434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E"/>
                </a:solidFill>
              </a:rPr>
              <a:t>Context: epsilon&lt;=5 causes &gt;27% utility drop with this 3-layer NN at this dataset scale. Recommended: epsilon=10 (15.7% drop). Future work: tree-level XGBoost DP perturbation for tighter privacy.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80560"/>
            <a:ext cx="9144000" cy="54864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STATISTICAL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Results Are Statistically Highly Significant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3017520"/>
          </a:xfrm>
          <a:prstGeom prst="rect">
            <a:avLst/>
          </a:prstGeom>
          <a:solidFill>
            <a:srgbClr val="1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234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DADC"/>
                </a:solidFill>
              </a:rPr>
              <a:t>Mann-Whitney U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6459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</a:rPr>
              <a:t>CFL vs FedAvg
(per-round AUC distributions)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1945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884B"/>
                </a:solidFill>
              </a:rPr>
              <a:t>U = 144.0
p = 3.6 x 10^-5
Highly significant
(p &lt; 0.001)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188720"/>
            <a:ext cx="2743200" cy="3017520"/>
          </a:xfrm>
          <a:prstGeom prst="rect">
            <a:avLst/>
          </a:prstGeom>
          <a:solidFill>
            <a:srgbClr val="1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1568" y="1234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DADC"/>
                </a:solidFill>
              </a:rPr>
              <a:t>Bootstrap 95% 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16459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</a:rPr>
              <a:t>CFL AUC
(2000 iterations, SEED=42)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1945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7EA4"/>
                </a:solidFill>
              </a:rPr>
              <a:t>AUC = 0.9826
CI = [0.9826, 0.9829]
Extremely tight CI:
model is consistent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2743200" cy="3017520"/>
          </a:xfrm>
          <a:prstGeom prst="rect">
            <a:avLst/>
          </a:prstGeom>
          <a:solidFill>
            <a:srgbClr val="1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234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DADC"/>
                </a:solidFill>
              </a:rPr>
              <a:t>Effect 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6459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</a:rPr>
              <a:t>CFL vs FedAvg
on held-out IL facilities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1945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DADC"/>
                </a:solidFill>
              </a:rPr>
              <a:t>Delta AUC = +0.1316
Delta F1 = +0.3308
Large practical effect
not just statistical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C3: XAI AUDIT SCORECARD -- POST-MIDSEM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B1D3A"/>
                </a:solidFill>
              </a:rPr>
              <a:t>4-Dimension SHAP Audit: Planned for June 14 - June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920240" cy="3200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8DADC"/>
                </a:solidFill>
              </a:rPr>
              <a:t>D1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1737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DADC"/>
                </a:solidFill>
              </a:rPr>
              <a:t>Spearman rho of top-10 SHAP
feature ranks vs Centralised Oracle.
Target: rho &gt;= 0.75 for CFL.
Week 3 (Jun 17-18)</a:t>
            </a:r>
          </a:p>
        </p:txBody>
      </p:sp>
      <p:sp>
        <p:nvSpPr>
          <p:cNvPr id="9" name="Rectangle 8"/>
          <p:cNvSpPr/>
          <p:nvPr/>
        </p:nvSpPr>
        <p:spPr>
          <a:xfrm>
            <a:off x="2450591" y="1188720"/>
            <a:ext cx="1920240" cy="3200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2031" y="12344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8DADC"/>
                </a:solidFill>
              </a:rPr>
              <a:t>D2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1" y="16916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1" y="2103120"/>
            <a:ext cx="1737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DADC"/>
                </a:solidFill>
              </a:rPr>
              <a:t>Mean SHAP shift under +/-5%
Gaussian noise (100 perturbations).
Hypothesis: CFL &lt; FedAvg shift.
Week 3 (Jun 19-20)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26864" y="1188720"/>
            <a:ext cx="1920240" cy="3200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4" y="12344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8DADC"/>
                </a:solidFill>
              </a:rPr>
              <a:t>D3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16916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Fairness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2103120"/>
            <a:ext cx="1737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DADC"/>
                </a:solidFill>
              </a:rPr>
              <a:t>Equalized odds + demographic
parity across MC / SNF / IL.
Normalised [0,1] score.
Week 4 (Jun 21-23)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03136" y="1188720"/>
            <a:ext cx="1920240" cy="3200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94576" y="12344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8DADC"/>
                </a:solidFill>
              </a:rPr>
              <a:t>D4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6" y="16916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Plausibility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4576" y="2103120"/>
            <a:ext cx="1737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DADC"/>
                </a:solidFill>
              </a:rPr>
              <a:t>% top-5 SHAP features matching
LTC clinical literature list.
Target: &gt;= 60% match.
Week 4 (Jun 21-23)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7EA4"/>
                </a:solidFill>
              </a:rPr>
              <a:t>Output: Fig 6 (radar chart) + XAI Audit Scorecard CSV  |  Paper Section VII filled  |  Ready for Final SEM Jul 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80560"/>
            <a:ext cx="9144000" cy="54864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ENGINEERING CHALLENGES RESOLVED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Real Implementation Has Real Problems -- Here Is What We Fixed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4114800" cy="914400"/>
          </a:xfrm>
          <a:prstGeom prst="rect">
            <a:avLst/>
          </a:prstGeom>
          <a:solidFill>
            <a:srgbClr val="1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ADC"/>
                </a:solidFill>
              </a:rPr>
              <a:t>XGBoost 3.x Serialisation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A7E"/>
                </a:solidFill>
              </a:rPr>
              <a:t>save_raw() + temp file deserialization workaround. Flower expects numpy arrays; XGBoost models must be byte-encoded.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234440"/>
            <a:ext cx="4114800" cy="914400"/>
          </a:xfrm>
          <a:prstGeom prst="rect">
            <a:avLst/>
          </a:prstGeom>
          <a:solidFill>
            <a:srgbClr val="1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2801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ADC"/>
                </a:solidFill>
              </a:rPr>
              <a:t>IL Mismatch Rate Bug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55448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A7E"/>
                </a:solidFill>
              </a:rPr>
              <a:t>NON_IID_SPEC missing adl_eating + adl_toileting caused IL rate to read 41% instead of target 12%. Fixed in schema.py; 72/72 tests now pass.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4114800" cy="914400"/>
          </a:xfrm>
          <a:prstGeom prst="rect">
            <a:avLst/>
          </a:prstGeom>
          <a:solidFill>
            <a:srgbClr val="1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ADC"/>
                </a:solidFill>
              </a:rPr>
              <a:t>No Ray on Windows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A7E"/>
                </a:solidFill>
              </a:rPr>
              <a:t>Flower simulation rewritten as manual round loop. No Ray dependency. Enables clean Windows 11 execution.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2240280"/>
            <a:ext cx="4114800" cy="914400"/>
          </a:xfrm>
          <a:prstGeom prst="rect">
            <a:avLst/>
          </a:prstGeom>
          <a:solidFill>
            <a:srgbClr val="1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2860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ADC"/>
                </a:solidFill>
              </a:rPr>
              <a:t>MIMIC-IV Not Yet Available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5603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A7E"/>
                </a:solidFill>
              </a:rPr>
              <a:t>PhysioNet credentialed access pending. Fidelity pipeline uses 20% synthetic holdout proxy. Will rerun with real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46120"/>
            <a:ext cx="4114800" cy="914400"/>
          </a:xfrm>
          <a:prstGeom prst="rect">
            <a:avLst/>
          </a:prstGeom>
          <a:solidFill>
            <a:srgbClr val="1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918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ADC"/>
                </a:solidFill>
              </a:rPr>
              <a:t>DP on XGBoost Not Possible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661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A7E"/>
                </a:solidFill>
              </a:rPr>
              <a:t>Opacus requires gradient access -- not available in XGBoost tree boosting. Secondary PyTorch NN (StaffingNN) used for DP sweep only.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246120"/>
            <a:ext cx="4114800" cy="914400"/>
          </a:xfrm>
          <a:prstGeom prst="rect">
            <a:avLst/>
          </a:prstGeom>
          <a:solidFill>
            <a:srgbClr val="1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32918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ADC"/>
                </a:solidFill>
              </a:rPr>
              <a:t>Windows Unicode (cp1252)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5661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6A7E"/>
                </a:solidFill>
              </a:rPr>
              <a:t>Box-drawing chars (U+2500 etc.) cause codec errors. All print() statements use ASCII. Scripts run cleanly on Windows 11.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PLAN OF WORK: ABSTRACT TO FINAL SEM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B1D3A"/>
                </a:solidFill>
              </a:rPr>
              <a:t>Full Dissertation Timeline -- Abstract Phase to Submission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8595360" cy="566928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73152" cy="566928"/>
          </a:xfrm>
          <a:prstGeom prst="rect">
            <a:avLst/>
          </a:prstGeom>
          <a:solidFill>
            <a:srgbClr val="1B8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E"/>
                </a:solidFill>
              </a:rPr>
              <a:t>Apr 25 - May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2801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84B"/>
                </a:solidFill>
              </a:rPr>
              <a:t>Dissertation Outline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2801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3E52"/>
                </a:solidFill>
              </a:rPr>
              <a:t>Lit review, architecture design, environment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2801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884B"/>
                </a:solidFill>
              </a:rPr>
              <a:t>DONE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10512"/>
            <a:ext cx="8595360" cy="566928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810512"/>
            <a:ext cx="73152" cy="566928"/>
          </a:xfrm>
          <a:prstGeom prst="rect">
            <a:avLst/>
          </a:prstGeom>
          <a:solidFill>
            <a:srgbClr val="1B8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0195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E"/>
                </a:solidFill>
              </a:rPr>
              <a:t>May 9 - May 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19019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84B"/>
                </a:solidFill>
              </a:rPr>
              <a:t>Data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190195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3E52"/>
                </a:solidFill>
              </a:rPr>
              <a:t>CTGAN generation, schema, non-IID engineering, validation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90195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884B"/>
                </a:solidFill>
              </a:rPr>
              <a:t>DONE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432304"/>
            <a:ext cx="8595360" cy="566928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432304"/>
            <a:ext cx="73152" cy="566928"/>
          </a:xfrm>
          <a:prstGeom prst="rect">
            <a:avLst/>
          </a:prstGeom>
          <a:solidFill>
            <a:srgbClr val="1B8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523744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E"/>
                </a:solidFill>
              </a:rPr>
              <a:t>May 22 - Jun 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252374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84B"/>
                </a:solidFill>
              </a:rPr>
              <a:t>FL Implementation &amp; DP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523744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3E52"/>
                </a:solidFill>
              </a:rPr>
              <a:t>5 model variants, 50 rounds, DP sweep, midsem 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523744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884B"/>
                </a:solidFill>
              </a:rPr>
              <a:t>DONE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054096"/>
            <a:ext cx="8595360" cy="566928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054096"/>
            <a:ext cx="73152" cy="566928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14553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E"/>
                </a:solidFill>
              </a:rPr>
              <a:t>Jun 14 - Jul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314553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7EA4"/>
                </a:solidFill>
              </a:rPr>
              <a:t>XAI Audit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145536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3E52"/>
                </a:solidFill>
              </a:rPr>
              <a:t>SHAP pipeline, D1-D4 modules, scorecard, radar chart (Fig 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145536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7EA4"/>
                </a:solidFill>
              </a:rPr>
              <a:t>NEXT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675888"/>
            <a:ext cx="85953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3675888"/>
            <a:ext cx="73152" cy="566928"/>
          </a:xfrm>
          <a:prstGeom prst="rect">
            <a:avLst/>
          </a:prstGeom>
          <a:solidFill>
            <a:srgbClr val="5A6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76732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E"/>
                </a:solidFill>
              </a:rPr>
              <a:t>Jul 10 - Jul 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37673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6A7E"/>
                </a:solidFill>
              </a:rPr>
              <a:t>Dissertation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376732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3E52"/>
                </a:solidFill>
              </a:rPr>
              <a:t>Full draft, methodology, results, discussion, plagiarism check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376732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A6A7E"/>
                </a:solidFill>
              </a:rPr>
              <a:t>PLANNED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297680"/>
            <a:ext cx="85953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4297680"/>
            <a:ext cx="73152" cy="566928"/>
          </a:xfrm>
          <a:prstGeom prst="rect">
            <a:avLst/>
          </a:prstGeom>
          <a:solidFill>
            <a:srgbClr val="5A6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3891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6A7E"/>
                </a:solidFill>
              </a:rPr>
              <a:t>Jul 28 - Aug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43891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6A7E"/>
                </a:solidFill>
              </a:rPr>
              <a:t>Submission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43891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3E52"/>
                </a:solidFill>
              </a:rPr>
              <a:t>Final review and submission with supervisor evaluation 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43891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A6A7E"/>
                </a:solidFill>
              </a:rPr>
              <a:t>PLANNED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80560"/>
            <a:ext cx="9144000" cy="54864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DADC"/>
                </a:solidFill>
              </a:rPr>
              <a:t>MIDSEM SUMMARY -- WHAT WAS ACHIEVED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From Proposal to Results: FedAcuity Is Real and Working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743200" cy="3108960"/>
          </a:xfrm>
          <a:prstGeom prst="rect">
            <a:avLst/>
          </a:prstGeom>
          <a:solidFill>
            <a:srgbClr val="1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1430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884B"/>
                </a:solidFill>
              </a:rPr>
              <a:t>C1: FL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554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+ 5 strategies implemented + tested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011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+ 50-round simulation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468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 CFL AUC 0.9677 vs FedAvg 0.9057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926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+ 6.2pt gap on held-out IL facilities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83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 Mann-Whitney U=364, p = 0.0039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0128" y="1097280"/>
            <a:ext cx="2743200" cy="3108960"/>
          </a:xfrm>
          <a:prstGeom prst="rect">
            <a:avLst/>
          </a:prstGeom>
          <a:solidFill>
            <a:srgbClr val="1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9856" y="11430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7EA4"/>
                </a:solidFill>
              </a:rPr>
              <a:t>C2: Synthetic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1554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 CTGAN pipeline: 10 facilities done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6" y="2011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+ 10,950 records, 15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2468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 KS-test: 14/14 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56" y="2926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 TSTR gap: 0.0199 (target &lt;0.08)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9856" y="3383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 MIMIC-IV access pending (proxy used)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4496" y="1097280"/>
            <a:ext cx="2743200" cy="3108960"/>
          </a:xfrm>
          <a:prstGeom prst="rect">
            <a:avLst/>
          </a:prstGeom>
          <a:solidFill>
            <a:srgbClr val="12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11430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DADC"/>
                </a:solidFill>
              </a:rPr>
              <a:t>C3: XAI Scorecard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1554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ADC"/>
                </a:solidFill>
              </a:rPr>
              <a:t>~ Architecture designed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011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ADC"/>
                </a:solidFill>
              </a:rPr>
              <a:t>~ SHAP pipeline planned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468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ADC"/>
                </a:solidFill>
              </a:rPr>
              <a:t>~ D1-D4 modules: Jun 14 - Jun 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2926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ADC"/>
                </a:solidFill>
              </a:rPr>
              <a:t>~ Fig 6 radar chart: Week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383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ADC"/>
                </a:solidFill>
              </a:rPr>
              <a:t>~ Paper Sec VII ready post-midsem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52628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DADC"/>
                </a:solidFill>
              </a:rPr>
              <a:t>Next: SHAP pipeline + D1-D4 XAI modules (Jun 14)  |  Final SEM: 11 July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6A7E"/>
                </a:solidFill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