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62728"/>
                </a:solidFill>
              </a:rPr>
              <a:t>FedAcuity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A Privacy-Preserving Federated Learning Framework</a:t>
            </a:r>
            <a:br/>
            <a:r>
              <a:t>for Staffing-Acuity Mismatch Prediction in Long-Term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Tanay Kashyap — M.Tech AI/ML, BITS Pilani</a:t>
            </a:r>
            <a:br/>
            <a:r>
              <a:t>Midsem Evaluation ·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Target: IEEE Journal of Biomedical and Health Informatics (JBHI)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The Problem: LTC Staffing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D62728"/>
                </a:solidFill>
              </a:rPr>
              <a:t>87%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of US nursing homes report</a:t>
            </a:r>
            <a:br/>
            <a:r>
              <a:t>moderate-to-severe staffing shortages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↑ Fall rates, medication errors, preventable ER transfers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LTC resident acuity varies sharply across Memory Care, Skilled Nursing, and Independent Living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No cross-facility predictive tool exists today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Root cause: HIPAA prohibits centralising resident health records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Each facility operates in data isolation — collaborative learning is impossible conventionally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The Technical Challenge: HIPAA Data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Centralised ML</a:t>
            </a:r>
            <a:br/>
            <a:r>
              <a:t>(HIPAA-violating)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7373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 All resident records pooled to train one model</a:t>
            </a:r>
            <a:br/>
            <a:r>
              <a:t>→  Illegal under HIPAA</a:t>
            </a:r>
            <a:br/>
            <a:r>
              <a:t>→  Not deployable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2728"/>
                </a:solidFill>
              </a:rPr>
              <a:t>Federated Learning</a:t>
            </a:r>
            <a:br/>
            <a:r>
              <a:t>(FedAcuity)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10896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→  Each facility trains locally on its own data</a:t>
            </a:r>
            <a:br/>
            <a:r>
              <a:t>→  Only model weights (~50–200 KB) leave the facility</a:t>
            </a:r>
            <a:br/>
            <a:r>
              <a:t>→  No patient data ever transmitted</a:t>
            </a:r>
            <a:br/>
            <a:r>
              <a:t>→  HIPAA-compliant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Remaining challenge: LTC facilities are strongly non-IID.</a:t>
            </a:r>
            <a:br/>
            <a:r>
              <a:t>Memory Care ≠ Skilled Nursing ≠ Independent Living.</a:t>
            </a:r>
            <a:br/>
            <a:r>
              <a:t>Naive FedAvg aggregates incompatible distributions → degraded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FedAcuity — Three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</a:rP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Domain-Driven Clustered 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Facilities grouped by care type (MC / SNF / IL) before aggregation.</a:t>
            </a:r>
            <a:br/>
            <a:r>
              <a:t>Each cluster maintains an independent global model.</a:t>
            </a:r>
            <a:br/>
            <a:r>
              <a:t>Integrated Opacus differential privacy (ε ∈ {1, 2, 5, 10, ∞}).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</a:rPr>
              <a:t>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Synthetic LTC Benchmark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CTGAN-generated dataset: 10 facilities × 3 years × 15 clinical features.</a:t>
            </a:r>
            <a:br/>
            <a:r>
              <a:t>Validated against MIMIC-IV via KS-tests, Frobenius norm, and TSTR.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62728"/>
                </a:solidFill>
              </a:rPr>
              <a:t>C3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XAI Audit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4-dimension SHAP audit: Fidelity · Stability · Fairness · Plausibility.</a:t>
            </a:r>
            <a:br/>
            <a:r>
              <a:t>Applied across all 5 model variants. (Weeks 3–4 post-midsem)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C2: Synthetic LTC Benchmark —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15-feature clinical schema (MDS 3.0, RUG-IV, CMS PBJ)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Non-IID distribution specs per care type (MC / SNF / IL)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CTGAN trained per facility: 500 epochs, [256,256] dims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~1,095 daily records × 10 facilities = 10,950 rows total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Binary mismatch label: (ADL_demand × census) / nursing_hours &gt; τ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Threshold τ calibrated per care type (MC≈40%, SNF≈28%, IL≈12%)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60 / 20 / 20 stratified splits, SEED=42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Feature distributions engineered non-IID: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92024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Feature          MC      SNF     IL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adl_cognition    4.5     2.5     1.0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medication_count 11      9       5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nursing_hrs_rn   2.5     3.0     1.0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Mismatch rate    ~40%    ~28%    ~12%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C2: Fidelity Validation Results</a:t>
            </a:r>
          </a:p>
        </p:txBody>
      </p:sp>
      <p:pic>
        <p:nvPicPr>
          <p:cNvPr id="3" name="Picture 2" descr="fig2_fidelit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583680" cy="45112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KS-test pass rate: 14/14 features (α=0.05)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Frobenius norm (synthetic vs MIMIC-IV proxy): 0.2196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TSTR AUC: 0.9988  |  TRTR (oracle): 0.9789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TSTR gap: 0.0199 (target &lt;0.08)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Validation confirms synthetic data preserves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distributional structure of real LTC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C1: FedAcuity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Layer 1 — Facility Edge</a:t>
            </a:r>
            <a:br/>
            <a:r>
              <a:t>  • XGBoost trains locally on resident records</a:t>
            </a:r>
            <a:br/>
            <a:r>
              <a:t>  • Only model bytes (~50–200 KB) leave facility</a:t>
            </a:r>
            <a:br/>
            <a:r>
              <a:t>  • 8 training facilities, 2 held-out (8, 9)</a:t>
            </a:r>
            <a:br/>
            <a:br/>
            <a:r>
              <a:t>Layer 2 — Clustered Aggregation Server</a:t>
            </a:r>
            <a:br/>
            <a:r>
              <a:t>  • 3 clusters: MC [0,1,2] · SNF [3,4,5,6] · IL [7]</a:t>
            </a:r>
            <a:br/>
            <a:r>
              <a:t>  • Each cluster runs independent FedAvg</a:t>
            </a:r>
            <a:br/>
            <a:r>
              <a:t>  • FedProx proximal term: μ = 0.1</a:t>
            </a:r>
            <a:br/>
            <a:r>
              <a:t>  • Opacus DP-SGD on PyTorch NN for ε sweep</a:t>
            </a:r>
            <a:br/>
            <a:br/>
            <a:r>
              <a:t>Layer 3 — XAI / Evaluation</a:t>
            </a:r>
            <a:br/>
            <a:r>
              <a:t>  • SHAP TreeExplainer post-hoc analysis</a:t>
            </a:r>
            <a:br/>
            <a:r>
              <a:t>  • 4-dimension audit scorecard</a:t>
            </a:r>
            <a:br/>
            <a:r>
              <a:t>  • Radar chart per model variant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FL Results: Five-Model Comparison (Figure 4)</a:t>
            </a:r>
          </a:p>
        </p:txBody>
      </p:sp>
      <p:pic>
        <p:nvPicPr>
          <p:cNvPr id="3" name="Picture 2" descr="fig4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315200" cy="41522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CFL (ours):        0.9677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Centralised Oracle:0.9751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IL Local (fac. 7): 0.9677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FedAvg:            0.9057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CFL vs FedAvg gap: +6.2 AUC pts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CFL vs Oracle gap: 0.74 AUC pts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Key result: CFL avoids cross-care-type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gradient averaging, matching care-type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local performance while enabling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privacy-preserving federation.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FL Results: Convergence Curves (Figure 3)</a:t>
            </a:r>
          </a:p>
        </p:txBody>
      </p:sp>
      <p:pic>
        <p:nvPicPr>
          <p:cNvPr id="3" name="Picture 2" descr="fig3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972800" cy="59385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CFL converges faster and stabilises higher than global FedAvg — confirms that care-type clusters prevent inter-domain gradient interference.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Differential Privacy: Privacy-Utility Tradeoff (Figure 5)</a:t>
            </a:r>
          </a:p>
        </p:txBody>
      </p:sp>
      <p:pic>
        <p:nvPicPr>
          <p:cNvPr id="3" name="Picture 2" descr="fig5_dp_privacy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315200" cy="4967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Opacus DP-SGD on StaffingNN (PyTorch)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delta = 1e-5, max_grad_norm = 1.0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epsilon in {1, 2, 5, 10, inf}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No-DP AUC (eps=inf):    0.9829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eps=10 AUC:            0.8288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Degradation at eps=10: 15.4%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Recommended: eps = 10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eps&lt;=2 causes &gt;29% utility degradation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at this model scale / dataset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C3: XAI Audit Scorecard — Plan (Post-Midsem)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</a:rPr>
              <a:t>D1 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Spearman ρ of top-10 SHAP</a:t>
            </a:r>
            <a:br/>
            <a:r>
              <a:t>feature ranks vs Centralised Oracle.</a:t>
            </a:r>
            <a:br/>
            <a:r>
              <a:t>Target: ρ ≥ 0.75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</a:rPr>
              <a:t>D2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920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Mean SHAP shift under</a:t>
            </a:r>
            <a:br/>
            <a:r>
              <a:t>±5% Gaussian noise (100 perturbations).</a:t>
            </a:r>
            <a:br/>
            <a:r>
              <a:t>Lower = more 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</a:rPr>
              <a:t>D3 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Equalized odds &amp;</a:t>
            </a:r>
            <a:br/>
            <a:r>
              <a:t>demographic parity across</a:t>
            </a:r>
            <a:br/>
            <a:r>
              <a:t>MC / SNF / IL subgroups.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</a:rPr>
              <a:t>D4 Plausibility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% of top-5 SHAP features</a:t>
            </a:r>
            <a:br/>
            <a:r>
              <a:t>aligning with LTC literature.</a:t>
            </a:r>
            <a:br/>
            <a:r>
              <a:t>Target: ≥ 60% overlap.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Timeline: SHAP pipeline (Week 3) → D1+D2 (Week 3) → D3+D4 (Week 4) → Radar chart (Fig 6) assembled by Week 4, Jul 11 final sem.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Timeline to Final Sem Evaluation (11 July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</a:rPr>
              <a:t>● Week 2 (now)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4630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MIDSEM — Results polished, all Figs 2–5, paper Sections I–VI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● Week 3 (14–20 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377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SHAP pipeline + D1 Fidelity + D2 Stability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● Week 4 (21–27 Jun)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291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D3 Fairness + D4 Plausibility + XAI Scorecard (Fig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● Week 5 (28 Jun–4 Jul)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2062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Paper writing sprint — Sections VII–IX, all figures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● Week 6 (5–11 Jul)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1206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FINAL SEM — Full paper draft, clean codebase,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tanaykashyap.dev@gmail.com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Code: github.com/[repo]  |  Paper target: IEEE JBHI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